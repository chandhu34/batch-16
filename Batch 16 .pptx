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4140" r:id="rId1"/>
  </p:sldMasterIdLst>
  <p:notesMasterIdLst>
    <p:notesMasterId r:id="rId28"/>
  </p:notesMasterIdLst>
  <p:sldIdLst>
    <p:sldId id="256" r:id="rId2"/>
    <p:sldId id="282" r:id="rId3"/>
    <p:sldId id="286" r:id="rId4"/>
    <p:sldId id="261" r:id="rId5"/>
    <p:sldId id="294" r:id="rId6"/>
    <p:sldId id="267" r:id="rId7"/>
    <p:sldId id="283" r:id="rId8"/>
    <p:sldId id="302" r:id="rId9"/>
    <p:sldId id="303" r:id="rId10"/>
    <p:sldId id="304" r:id="rId11"/>
    <p:sldId id="268" r:id="rId12"/>
    <p:sldId id="289" r:id="rId13"/>
    <p:sldId id="301" r:id="rId14"/>
    <p:sldId id="296" r:id="rId15"/>
    <p:sldId id="295" r:id="rId16"/>
    <p:sldId id="305" r:id="rId17"/>
    <p:sldId id="306" r:id="rId18"/>
    <p:sldId id="297" r:id="rId19"/>
    <p:sldId id="298" r:id="rId20"/>
    <p:sldId id="299" r:id="rId21"/>
    <p:sldId id="307" r:id="rId22"/>
    <p:sldId id="308" r:id="rId23"/>
    <p:sldId id="270" r:id="rId24"/>
    <p:sldId id="292" r:id="rId25"/>
    <p:sldId id="300" r:id="rId26"/>
    <p:sldId id="29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5" userDrawn="1">
          <p15:clr>
            <a:srgbClr val="000000"/>
          </p15:clr>
        </p15:guide>
        <p15:guide id="2" pos="257" userDrawn="1">
          <p15:clr>
            <a:srgbClr val="A4A3A4"/>
          </p15:clr>
        </p15:guide>
        <p15:guide id="3" pos="7355" userDrawn="1">
          <p15:clr>
            <a:srgbClr val="A4A3A4"/>
          </p15:clr>
        </p15:guide>
        <p15:guide id="4" orient="horz" pos="40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ndana Dasari" initials="CD" lastIdx="2" clrIdx="0">
    <p:extLst>
      <p:ext uri="{19B8F6BF-5375-455C-9EA6-DF929625EA0E}">
        <p15:presenceInfo xmlns:p15="http://schemas.microsoft.com/office/powerpoint/2012/main" userId="1b9372bdee4115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59" autoAdjust="0"/>
    <p:restoredTop sz="94660"/>
  </p:normalViewPr>
  <p:slideViewPr>
    <p:cSldViewPr snapToGrid="0">
      <p:cViewPr varScale="1">
        <p:scale>
          <a:sx n="85" d="100"/>
          <a:sy n="85" d="100"/>
        </p:scale>
        <p:origin x="629" y="58"/>
      </p:cViewPr>
      <p:guideLst>
        <p:guide orient="horz" pos="255"/>
        <p:guide pos="257"/>
        <p:guide pos="7355"/>
        <p:guide orient="horz" pos="4020"/>
      </p:guideLst>
    </p:cSldViewPr>
  </p:slideViewPr>
  <p:notesTextViewPr>
    <p:cViewPr>
      <p:scale>
        <a:sx n="1" d="1"/>
        <a:sy n="1" d="1"/>
      </p:scale>
      <p:origin x="0" y="0"/>
    </p:cViewPr>
  </p:notesTextViewPr>
  <p:notesViewPr>
    <p:cSldViewPr snapToGrid="0">
      <p:cViewPr varScale="1">
        <p:scale>
          <a:sx n="64" d="100"/>
          <a:sy n="64" d="100"/>
        </p:scale>
        <p:origin x="3192" y="8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4F2FF-294E-4CA4-9222-A84AF9CA7088}" type="datetimeFigureOut">
              <a:rPr lang="en-IN" smtClean="0"/>
              <a:t>08-04-2026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28581-185F-44ED-834E-A5F2072D532B}" type="slidenum">
              <a:rPr lang="en-IN" smtClean="0"/>
              <a:t>‹#›</a:t>
            </a:fld>
            <a:endParaRPr lang="en-IN"/>
          </a:p>
        </p:txBody>
      </p:sp>
    </p:spTree>
    <p:extLst>
      <p:ext uri="{BB962C8B-B14F-4D97-AF65-F5344CB8AC3E}">
        <p14:creationId xmlns:p14="http://schemas.microsoft.com/office/powerpoint/2010/main" val="1319643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3628581-185F-44ED-834E-A5F2072D532B}" type="slidenum">
              <a:rPr lang="en-IN" smtClean="0"/>
              <a:t>1</a:t>
            </a:fld>
            <a:endParaRPr lang="en-IN"/>
          </a:p>
        </p:txBody>
      </p:sp>
    </p:spTree>
    <p:extLst>
      <p:ext uri="{BB962C8B-B14F-4D97-AF65-F5344CB8AC3E}">
        <p14:creationId xmlns:p14="http://schemas.microsoft.com/office/powerpoint/2010/main" val="2071644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A942FF-49FB-4737-8E15-F6ED58D3A1B6}"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222E6D-22EA-4178-B5E9-B7551699B331}" type="slidenum">
              <a:rPr lang="en-IN" smtClean="0"/>
              <a:t>‹#›</a:t>
            </a:fld>
            <a:endParaRPr lang="en-IN"/>
          </a:p>
        </p:txBody>
      </p:sp>
    </p:spTree>
    <p:extLst>
      <p:ext uri="{BB962C8B-B14F-4D97-AF65-F5344CB8AC3E}">
        <p14:creationId xmlns:p14="http://schemas.microsoft.com/office/powerpoint/2010/main" val="3307675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A942FF-49FB-4737-8E15-F6ED58D3A1B6}"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222E6D-22EA-4178-B5E9-B7551699B331}" type="slidenum">
              <a:rPr lang="en-IN" smtClean="0"/>
              <a:t>‹#›</a:t>
            </a:fld>
            <a:endParaRPr lang="en-IN"/>
          </a:p>
        </p:txBody>
      </p:sp>
      <p:sp>
        <p:nvSpPr>
          <p:cNvPr id="7" name="Rectangle 6">
            <a:extLst>
              <a:ext uri="{FF2B5EF4-FFF2-40B4-BE49-F238E27FC236}">
                <a16:creationId xmlns:a16="http://schemas.microsoft.com/office/drawing/2014/main" id="{BFC44F82-8DD8-859B-8FB6-AC2845E0DD96}"/>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38017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A942FF-49FB-4737-8E15-F6ED58D3A1B6}"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222E6D-22EA-4178-B5E9-B7551699B331}" type="slidenum">
              <a:rPr lang="en-IN" smtClean="0"/>
              <a:t>‹#›</a:t>
            </a:fld>
            <a:endParaRPr lang="en-IN"/>
          </a:p>
        </p:txBody>
      </p:sp>
      <p:sp>
        <p:nvSpPr>
          <p:cNvPr id="7" name="Rectangle 6">
            <a:extLst>
              <a:ext uri="{FF2B5EF4-FFF2-40B4-BE49-F238E27FC236}">
                <a16:creationId xmlns:a16="http://schemas.microsoft.com/office/drawing/2014/main" id="{22BB9CCC-35CC-E677-386A-84667CD5C0AC}"/>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43967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A942FF-49FB-4737-8E15-F6ED58D3A1B6}"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222E6D-22EA-4178-B5E9-B7551699B331}" type="slidenum">
              <a:rPr lang="en-IN" smtClean="0"/>
              <a:t>‹#›</a:t>
            </a:fld>
            <a:endParaRPr lang="en-IN"/>
          </a:p>
        </p:txBody>
      </p:sp>
      <p:sp>
        <p:nvSpPr>
          <p:cNvPr id="8" name="Rectangle 7">
            <a:extLst>
              <a:ext uri="{FF2B5EF4-FFF2-40B4-BE49-F238E27FC236}">
                <a16:creationId xmlns:a16="http://schemas.microsoft.com/office/drawing/2014/main" id="{694B7154-DAF6-4F5A-A19C-1E0592994A51}"/>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335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A942FF-49FB-4737-8E15-F6ED58D3A1B6}" type="datetimeFigureOut">
              <a:rPr lang="en-IN" smtClean="0"/>
              <a:t>08-04-2026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222E6D-22EA-4178-B5E9-B7551699B331}" type="slidenum">
              <a:rPr lang="en-IN" smtClean="0"/>
              <a:t>‹#›</a:t>
            </a:fld>
            <a:endParaRPr lang="en-IN"/>
          </a:p>
        </p:txBody>
      </p:sp>
      <p:sp>
        <p:nvSpPr>
          <p:cNvPr id="10" name="Rectangle 9">
            <a:extLst>
              <a:ext uri="{FF2B5EF4-FFF2-40B4-BE49-F238E27FC236}">
                <a16:creationId xmlns:a16="http://schemas.microsoft.com/office/drawing/2014/main" id="{1F87EAC2-C4DD-E756-1718-87132D6CB3DA}"/>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226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A942FF-49FB-4737-8E15-F6ED58D3A1B6}"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222E6D-22EA-4178-B5E9-B7551699B331}" type="slidenum">
              <a:rPr lang="en-IN" smtClean="0"/>
              <a:t>‹#›</a:t>
            </a:fld>
            <a:endParaRPr lang="en-IN"/>
          </a:p>
        </p:txBody>
      </p:sp>
      <p:sp>
        <p:nvSpPr>
          <p:cNvPr id="6" name="Rectangle 5">
            <a:extLst>
              <a:ext uri="{FF2B5EF4-FFF2-40B4-BE49-F238E27FC236}">
                <a16:creationId xmlns:a16="http://schemas.microsoft.com/office/drawing/2014/main" id="{4380EDBF-9230-86AA-540F-1B17D42CAECD}"/>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6699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A942FF-49FB-4737-8E15-F6ED58D3A1B6}" type="datetimeFigureOut">
              <a:rPr lang="en-IN" smtClean="0"/>
              <a:t>08-04-2026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222E6D-22EA-4178-B5E9-B7551699B331}" type="slidenum">
              <a:rPr lang="en-IN" smtClean="0"/>
              <a:t>‹#›</a:t>
            </a:fld>
            <a:endParaRPr lang="en-IN"/>
          </a:p>
        </p:txBody>
      </p:sp>
      <p:sp>
        <p:nvSpPr>
          <p:cNvPr id="5" name="Rectangle 4">
            <a:extLst>
              <a:ext uri="{FF2B5EF4-FFF2-40B4-BE49-F238E27FC236}">
                <a16:creationId xmlns:a16="http://schemas.microsoft.com/office/drawing/2014/main" id="{5486BAD4-ED72-F4E9-248C-E1E0BD5192D6}"/>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71422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A942FF-49FB-4737-8E15-F6ED58D3A1B6}"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222E6D-22EA-4178-B5E9-B7551699B331}" type="slidenum">
              <a:rPr lang="en-IN" smtClean="0"/>
              <a:t>‹#›</a:t>
            </a:fld>
            <a:endParaRPr lang="en-IN"/>
          </a:p>
        </p:txBody>
      </p:sp>
      <p:sp>
        <p:nvSpPr>
          <p:cNvPr id="8" name="Rectangle 7">
            <a:extLst>
              <a:ext uri="{FF2B5EF4-FFF2-40B4-BE49-F238E27FC236}">
                <a16:creationId xmlns:a16="http://schemas.microsoft.com/office/drawing/2014/main" id="{56285FF3-A33D-3977-E63F-7990A2A56727}"/>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27292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A942FF-49FB-4737-8E15-F6ED58D3A1B6}"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222E6D-22EA-4178-B5E9-B7551699B331}" type="slidenum">
              <a:rPr lang="en-IN" smtClean="0"/>
              <a:t>‹#›</a:t>
            </a:fld>
            <a:endParaRPr lang="en-IN"/>
          </a:p>
        </p:txBody>
      </p:sp>
      <p:sp>
        <p:nvSpPr>
          <p:cNvPr id="8" name="Rectangle 7">
            <a:extLst>
              <a:ext uri="{FF2B5EF4-FFF2-40B4-BE49-F238E27FC236}">
                <a16:creationId xmlns:a16="http://schemas.microsoft.com/office/drawing/2014/main" id="{E5D7AC5A-548C-F9E2-1BED-D64CE466F22C}"/>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94717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A942FF-49FB-4737-8E15-F6ED58D3A1B6}"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222E6D-22EA-4178-B5E9-B7551699B331}" type="slidenum">
              <a:rPr lang="en-IN" smtClean="0"/>
              <a:t>‹#›</a:t>
            </a:fld>
            <a:endParaRPr lang="en-IN"/>
          </a:p>
        </p:txBody>
      </p:sp>
      <p:sp>
        <p:nvSpPr>
          <p:cNvPr id="7" name="Rectangle 6">
            <a:extLst>
              <a:ext uri="{FF2B5EF4-FFF2-40B4-BE49-F238E27FC236}">
                <a16:creationId xmlns:a16="http://schemas.microsoft.com/office/drawing/2014/main" id="{73987B01-30F0-B93B-2C26-9A65044EA280}"/>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6546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A942FF-49FB-4737-8E15-F6ED58D3A1B6}"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222E6D-22EA-4178-B5E9-B7551699B331}" type="slidenum">
              <a:rPr lang="en-IN" smtClean="0"/>
              <a:t>‹#›</a:t>
            </a:fld>
            <a:endParaRPr lang="en-IN"/>
          </a:p>
        </p:txBody>
      </p:sp>
      <p:sp>
        <p:nvSpPr>
          <p:cNvPr id="7" name="Rectangle 6">
            <a:extLst>
              <a:ext uri="{FF2B5EF4-FFF2-40B4-BE49-F238E27FC236}">
                <a16:creationId xmlns:a16="http://schemas.microsoft.com/office/drawing/2014/main" id="{EB1B7108-003C-E39B-843D-1DDF7A9ECACE}"/>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37902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198" y="493059"/>
            <a:ext cx="10515601" cy="115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A942FF-49FB-4737-8E15-F6ED58D3A1B6}" type="datetimeFigureOut">
              <a:rPr lang="en-IN" smtClean="0"/>
              <a:t>08-04-2026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22E6D-22EA-4178-B5E9-B7551699B331}" type="slidenum">
              <a:rPr lang="en-IN" smtClean="0"/>
              <a:t>‹#›</a:t>
            </a:fld>
            <a:endParaRPr lang="en-IN"/>
          </a:p>
        </p:txBody>
      </p:sp>
      <p:sp>
        <p:nvSpPr>
          <p:cNvPr id="7" name="Rectangle 6">
            <a:extLst>
              <a:ext uri="{FF2B5EF4-FFF2-40B4-BE49-F238E27FC236}">
                <a16:creationId xmlns:a16="http://schemas.microsoft.com/office/drawing/2014/main" id="{1DD15915-B773-6F05-F46D-D9755801CF92}"/>
              </a:ext>
            </a:extLst>
          </p:cNvPr>
          <p:cNvSpPr/>
          <p:nvPr userDrawn="1"/>
        </p:nvSpPr>
        <p:spPr>
          <a:xfrm>
            <a:off x="322729" y="277906"/>
            <a:ext cx="11573436" cy="6302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39089189"/>
      </p:ext>
    </p:extLst>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F18CF-7CF9-B5B5-C541-402EA1E6BF42}"/>
              </a:ext>
            </a:extLst>
          </p:cNvPr>
          <p:cNvSpPr>
            <a:spLocks noGrp="1"/>
          </p:cNvSpPr>
          <p:nvPr>
            <p:ph type="ctrTitle"/>
          </p:nvPr>
        </p:nvSpPr>
        <p:spPr>
          <a:xfrm>
            <a:off x="2321780" y="1985799"/>
            <a:ext cx="7658832" cy="822891"/>
          </a:xfrm>
        </p:spPr>
        <p:txBody>
          <a:bodyPr>
            <a:normAutofit fontScale="90000"/>
          </a:bodyPr>
          <a:lstStyle/>
          <a:p>
            <a:r>
              <a:rPr lang="en-GB"/>
              <a:t>   </a:t>
            </a:r>
            <a:endParaRPr lang="en-IN" sz="4400" dirty="0">
              <a:solidFill>
                <a:schemeClr val="tx2">
                  <a:lumMod val="20000"/>
                  <a:lumOff val="80000"/>
                </a:schemeClr>
              </a:solidFill>
              <a:latin typeface="Alef" panose="00000500000000000000" pitchFamily="2" charset="-79"/>
              <a:cs typeface="Alef" panose="00000500000000000000" pitchFamily="2" charset="-79"/>
            </a:endParaRPr>
          </a:p>
        </p:txBody>
      </p:sp>
      <p:sp>
        <p:nvSpPr>
          <p:cNvPr id="10" name="Subtitle 9">
            <a:extLst>
              <a:ext uri="{FF2B5EF4-FFF2-40B4-BE49-F238E27FC236}">
                <a16:creationId xmlns:a16="http://schemas.microsoft.com/office/drawing/2014/main" id="{576EA83D-E3DF-780F-4A64-106FA9B8789B}"/>
              </a:ext>
            </a:extLst>
          </p:cNvPr>
          <p:cNvSpPr>
            <a:spLocks noGrp="1"/>
          </p:cNvSpPr>
          <p:nvPr>
            <p:ph type="subTitle" idx="1"/>
          </p:nvPr>
        </p:nvSpPr>
        <p:spPr>
          <a:xfrm>
            <a:off x="6272970" y="5637589"/>
            <a:ext cx="5054525" cy="470564"/>
          </a:xfrm>
        </p:spPr>
        <p:txBody>
          <a:bodyPr>
            <a:normAutofit/>
          </a:bodyPr>
          <a:lstStyle/>
          <a:p>
            <a:pPr marL="342900" indent="-342900">
              <a:buFont typeface="Arial" panose="020B0604020202020204" pitchFamily="34" charset="0"/>
              <a:buChar char="•"/>
            </a:pPr>
            <a:r>
              <a:rPr lang="en-GB" sz="2000"/>
              <a:t> </a:t>
            </a:r>
            <a:r>
              <a:rPr lang="en-GB" sz="2000">
                <a:latin typeface="Times New Roman" panose="02020603050405020304" pitchFamily="18" charset="0"/>
                <a:cs typeface="Times New Roman" panose="02020603050405020304" pitchFamily="18" charset="0"/>
              </a:rPr>
              <a:t>Dasari Chandana - 22KA1A0434</a:t>
            </a:r>
          </a:p>
          <a:p>
            <a:endParaRPr lang="en-GB"/>
          </a:p>
        </p:txBody>
      </p:sp>
      <p:sp>
        <p:nvSpPr>
          <p:cNvPr id="5" name="Rectangle 4">
            <a:extLst>
              <a:ext uri="{FF2B5EF4-FFF2-40B4-BE49-F238E27FC236}">
                <a16:creationId xmlns:a16="http://schemas.microsoft.com/office/drawing/2014/main" id="{F2978897-3B75-6CAB-E75D-03E8C4AB44AD}"/>
              </a:ext>
            </a:extLst>
          </p:cNvPr>
          <p:cNvSpPr/>
          <p:nvPr/>
        </p:nvSpPr>
        <p:spPr>
          <a:xfrm>
            <a:off x="1576916" y="603004"/>
            <a:ext cx="9893009" cy="944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1">
                    <a:lumMod val="75000"/>
                  </a:schemeClr>
                </a:solidFill>
                <a:latin typeface="Times New Roman" panose="02020603050405020304" pitchFamily="18" charset="0"/>
                <a:cs typeface="Times New Roman" panose="02020603050405020304" pitchFamily="18" charset="0"/>
              </a:rPr>
              <a:t>JAWAHARLAL NEHRU TECHNOLOGICAL UNIVERSITY ANANTAPUR COLLEGE OF </a:t>
            </a:r>
            <a:r>
              <a:rPr lang="en-GB" sz="2400">
                <a:solidFill>
                  <a:schemeClr val="accent1">
                    <a:lumMod val="75000"/>
                  </a:schemeClr>
                </a:solidFill>
                <a:latin typeface="Times New Roman" panose="02020603050405020304" pitchFamily="18" charset="0"/>
                <a:cs typeface="Times New Roman" panose="02020603050405020304" pitchFamily="18" charset="0"/>
              </a:rPr>
              <a:t>ENGINEERING, KALIKIRI</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A5BA9989-6BC9-13F0-2B28-0E3A9EF48EBE}"/>
              </a:ext>
            </a:extLst>
          </p:cNvPr>
          <p:cNvSpPr/>
          <p:nvPr/>
        </p:nvSpPr>
        <p:spPr>
          <a:xfrm>
            <a:off x="974897" y="1557688"/>
            <a:ext cx="10352598" cy="541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accent2">
                    <a:lumMod val="75000"/>
                  </a:schemeClr>
                </a:solidFill>
                <a:latin typeface="Times New Roman" panose="02020603050405020304" pitchFamily="18" charset="0"/>
                <a:cs typeface="Times New Roman" panose="02020603050405020304" pitchFamily="18" charset="0"/>
              </a:rPr>
              <a:t>DEPARTMENT OF ELECTRONICS AND COMMUNICATON ENGINEERING</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254C4ABB-B5D1-17AE-607F-EBA5456B94F6}"/>
              </a:ext>
            </a:extLst>
          </p:cNvPr>
          <p:cNvSpPr/>
          <p:nvPr/>
        </p:nvSpPr>
        <p:spPr>
          <a:xfrm>
            <a:off x="1172885" y="2113368"/>
            <a:ext cx="9744634" cy="615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a:solidFill>
                  <a:schemeClr val="tx1"/>
                </a:solidFill>
                <a:latin typeface="Times New Roman" panose="02020603050405020304" pitchFamily="18" charset="0"/>
                <a:ea typeface="Amiri" panose="00000500000000000000" pitchFamily="2" charset="-78"/>
                <a:cs typeface="Times New Roman" panose="02020603050405020304" pitchFamily="18" charset="0"/>
              </a:rPr>
              <a:t>Final Year Project </a:t>
            </a:r>
          </a:p>
          <a:p>
            <a:pPr algn="ctr"/>
            <a:r>
              <a:rPr lang="en-GB" sz="2000">
                <a:solidFill>
                  <a:schemeClr val="tx1"/>
                </a:solidFill>
                <a:latin typeface="Times New Roman" panose="02020603050405020304" pitchFamily="18" charset="0"/>
                <a:ea typeface="Amiri" panose="00000500000000000000" pitchFamily="2" charset="-78"/>
                <a:cs typeface="Times New Roman" panose="02020603050405020304" pitchFamily="18" charset="0"/>
              </a:rPr>
              <a:t>on</a:t>
            </a:r>
            <a:endParaRPr lang="en-IN" sz="2000" dirty="0">
              <a:solidFill>
                <a:schemeClr val="tx1"/>
              </a:solidFill>
              <a:latin typeface="Times New Roman" panose="02020603050405020304" pitchFamily="18" charset="0"/>
              <a:ea typeface="Amiri" panose="00000500000000000000" pitchFamily="2" charset="-78"/>
              <a:cs typeface="Times New Roman" panose="02020603050405020304" pitchFamily="18" charset="0"/>
            </a:endParaRPr>
          </a:p>
        </p:txBody>
      </p:sp>
      <p:sp>
        <p:nvSpPr>
          <p:cNvPr id="9" name="Rectangle 8">
            <a:extLst>
              <a:ext uri="{FF2B5EF4-FFF2-40B4-BE49-F238E27FC236}">
                <a16:creationId xmlns:a16="http://schemas.microsoft.com/office/drawing/2014/main" id="{C7A92DE9-634C-6C53-2F85-726DAE274EC8}"/>
              </a:ext>
            </a:extLst>
          </p:cNvPr>
          <p:cNvSpPr/>
          <p:nvPr/>
        </p:nvSpPr>
        <p:spPr>
          <a:xfrm>
            <a:off x="4598667" y="3740197"/>
            <a:ext cx="3373755" cy="4705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BATCH - 07</a:t>
            </a:r>
            <a:endParaRPr lang="en-IN" sz="2000" dirty="0"/>
          </a:p>
        </p:txBody>
      </p:sp>
      <p:pic>
        <p:nvPicPr>
          <p:cNvPr id="13" name="Picture 12">
            <a:extLst>
              <a:ext uri="{FF2B5EF4-FFF2-40B4-BE49-F238E27FC236}">
                <a16:creationId xmlns:a16="http://schemas.microsoft.com/office/drawing/2014/main" id="{B2FF48D3-6952-C940-712D-295133729CFA}"/>
              </a:ext>
            </a:extLst>
          </p:cNvPr>
          <p:cNvPicPr>
            <a:picLocks noChangeAspect="1" noChangeArrowheads="1"/>
          </p:cNvPicPr>
          <p:nvPr/>
        </p:nvPicPr>
        <p:blipFill>
          <a:blip r:embed="rId3"/>
          <a:stretch>
            <a:fillRect/>
          </a:stretch>
        </p:blipFill>
        <p:spPr bwMode="auto">
          <a:xfrm>
            <a:off x="336149" y="467865"/>
            <a:ext cx="1673471" cy="1267441"/>
          </a:xfrm>
          <a:prstGeom prst="rect">
            <a:avLst/>
          </a:prstGeom>
          <a:ln>
            <a:noFill/>
          </a:ln>
          <a:effectLst>
            <a:outerShdw blurRad="190500" algn="tl" rotWithShape="0">
              <a:srgbClr val="000000">
                <a:alpha val="70000"/>
              </a:srgbClr>
            </a:outerShdw>
          </a:effectLst>
        </p:spPr>
      </p:pic>
      <p:sp>
        <p:nvSpPr>
          <p:cNvPr id="3" name="Rectangle 2">
            <a:extLst>
              <a:ext uri="{FF2B5EF4-FFF2-40B4-BE49-F238E27FC236}">
                <a16:creationId xmlns:a16="http://schemas.microsoft.com/office/drawing/2014/main" id="{8385BDD2-12D6-251D-9EA8-F47DA7245DED}"/>
              </a:ext>
            </a:extLst>
          </p:cNvPr>
          <p:cNvSpPr/>
          <p:nvPr/>
        </p:nvSpPr>
        <p:spPr>
          <a:xfrm>
            <a:off x="1701489" y="2642517"/>
            <a:ext cx="8687425" cy="94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spcBef>
                <a:spcPts val="0"/>
              </a:spcBef>
            </a:pPr>
            <a:r>
              <a:rPr lang="en-US" sz="1800" b="1">
                <a:solidFill>
                  <a:schemeClr val="tx1"/>
                </a:solidFill>
                <a:latin typeface="Times New Roman" panose="02020603050405020304" pitchFamily="18" charset="0"/>
                <a:ea typeface="Times New Roman" panose="02020603050405020304" pitchFamily="18" charset="0"/>
              </a:rPr>
              <a:t>COMPARISON OF BER OF DIFFERENT CHANNEL CODING TECHNIQUES FOR ADVANCED 5G &amp; 6G NETWORKS</a:t>
            </a:r>
            <a:endParaRPr lang="en-US" sz="1800" b="1" dirty="0">
              <a:solidFill>
                <a:schemeClr val="tx1"/>
              </a:solidFill>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26962F9E-515D-BE4B-6F9C-A5E2F5796AE5}"/>
              </a:ext>
            </a:extLst>
          </p:cNvPr>
          <p:cNvSpPr/>
          <p:nvPr/>
        </p:nvSpPr>
        <p:spPr>
          <a:xfrm>
            <a:off x="247426" y="3484579"/>
            <a:ext cx="4419600" cy="14846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solidFill>
                  <a:schemeClr val="tx1"/>
                </a:solidFill>
                <a:latin typeface="Times New Roman" panose="02020603050405020304" pitchFamily="18" charset="0"/>
                <a:cs typeface="Times New Roman" panose="02020603050405020304" pitchFamily="18" charset="0"/>
              </a:rPr>
              <a:t>Head of the Department</a:t>
            </a:r>
          </a:p>
          <a:p>
            <a:pPr algn="ctr"/>
            <a:r>
              <a:rPr lang="en-US" sz="2000" dirty="0">
                <a:solidFill>
                  <a:srgbClr val="00B0F0"/>
                </a:solidFill>
                <a:latin typeface="Times New Roman" panose="02020603050405020304" pitchFamily="18" charset="0"/>
                <a:cs typeface="Times New Roman" panose="02020603050405020304" pitchFamily="18" charset="0"/>
              </a:rPr>
              <a:t>Dr.K.Aparna,M.Tech.,</a:t>
            </a:r>
            <a:r>
              <a:rPr lang="en-US" sz="2000" dirty="0" err="1">
                <a:solidFill>
                  <a:srgbClr val="00B0F0"/>
                </a:solidFill>
                <a:latin typeface="Times New Roman" panose="02020603050405020304" pitchFamily="18" charset="0"/>
                <a:cs typeface="Times New Roman" panose="02020603050405020304" pitchFamily="18" charset="0"/>
              </a:rPr>
              <a:t>Ph.D</a:t>
            </a:r>
            <a:r>
              <a:rPr lang="en-US" sz="2000" dirty="0">
                <a:solidFill>
                  <a:srgbClr val="00B0F0"/>
                </a:solidFill>
                <a:latin typeface="Times New Roman" panose="02020603050405020304" pitchFamily="18" charset="0"/>
                <a:cs typeface="Times New Roman" panose="02020603050405020304" pitchFamily="18" charset="0"/>
              </a:rPr>
              <a:t> ,</a:t>
            </a:r>
          </a:p>
          <a:p>
            <a:pPr algn="ctr"/>
            <a:r>
              <a:rPr lang="en-US" sz="2000" dirty="0">
                <a:solidFill>
                  <a:schemeClr val="tx1"/>
                </a:solidFill>
                <a:latin typeface="Times New Roman" panose="02020603050405020304" pitchFamily="18" charset="0"/>
                <a:cs typeface="Times New Roman" panose="02020603050405020304" pitchFamily="18" charset="0"/>
              </a:rPr>
              <a:t>Associate Professor &amp; HECED</a:t>
            </a:r>
          </a:p>
          <a:p>
            <a:pPr algn="ctr"/>
            <a:r>
              <a:rPr lang="en-US" sz="2000" dirty="0">
                <a:solidFill>
                  <a:schemeClr val="tx1"/>
                </a:solidFill>
                <a:latin typeface="Times New Roman" panose="02020603050405020304" pitchFamily="18" charset="0"/>
                <a:cs typeface="Times New Roman" panose="02020603050405020304" pitchFamily="18" charset="0"/>
              </a:rPr>
              <a:t>Department of ECE</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5" name="Text 4">
            <a:extLst>
              <a:ext uri="{FF2B5EF4-FFF2-40B4-BE49-F238E27FC236}">
                <a16:creationId xmlns:a16="http://schemas.microsoft.com/office/drawing/2014/main" id="{7A54EF8E-D6DD-1AC2-5D40-4B9ADA942F50}"/>
              </a:ext>
            </a:extLst>
          </p:cNvPr>
          <p:cNvSpPr/>
          <p:nvPr/>
        </p:nvSpPr>
        <p:spPr>
          <a:xfrm>
            <a:off x="7464239" y="3600289"/>
            <a:ext cx="4475181" cy="44553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150"/>
              </a:lnSpc>
              <a:buNone/>
            </a:pPr>
            <a:r>
              <a:rPr lang="en-US" sz="2400" dirty="0">
                <a:solidFill>
                  <a:schemeClr val="accent1">
                    <a:lumMod val="50000"/>
                  </a:schemeClr>
                </a:solidFill>
                <a:latin typeface="+mj-lt"/>
                <a:ea typeface="Noto Serif" pitchFamily="34" charset="-122"/>
                <a:cs typeface="Noto Serif" pitchFamily="34" charset="-120"/>
              </a:rPr>
              <a:t>   </a:t>
            </a:r>
            <a:r>
              <a:rPr lang="en-US" sz="2000" dirty="0">
                <a:solidFill>
                  <a:schemeClr val="accent1">
                    <a:lumMod val="50000"/>
                  </a:schemeClr>
                </a:solidFill>
                <a:latin typeface="Times New Roman" panose="02020603050405020304" pitchFamily="18" charset="0"/>
                <a:ea typeface="Noto Serif" pitchFamily="34" charset="-122"/>
                <a:cs typeface="Times New Roman" panose="02020603050405020304" pitchFamily="18" charset="0"/>
              </a:rPr>
              <a:t>Under the guidance of </a:t>
            </a:r>
            <a:endParaRPr lang="en-US" sz="2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5">
            <a:extLst>
              <a:ext uri="{FF2B5EF4-FFF2-40B4-BE49-F238E27FC236}">
                <a16:creationId xmlns:a16="http://schemas.microsoft.com/office/drawing/2014/main" id="{61E5287D-C572-E341-A511-DE38C21D9F97}"/>
              </a:ext>
            </a:extLst>
          </p:cNvPr>
          <p:cNvSpPr/>
          <p:nvPr/>
        </p:nvSpPr>
        <p:spPr>
          <a:xfrm>
            <a:off x="7094668" y="3871239"/>
            <a:ext cx="5443370" cy="9407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00B0F0"/>
                </a:solidFill>
                <a:latin typeface="Times New Roman" panose="02020603050405020304" pitchFamily="18" charset="0"/>
                <a:ea typeface="Noto Serif" pitchFamily="34" charset="-122"/>
                <a:cs typeface="Times New Roman" panose="02020603050405020304" pitchFamily="18" charset="0"/>
              </a:rPr>
              <a:t>K . Jayapal Reddy ,M. Tech.,</a:t>
            </a:r>
          </a:p>
          <a:p>
            <a:pPr marL="0" indent="0" algn="ctr">
              <a:buNone/>
            </a:pPr>
            <a:r>
              <a:rPr lang="en-US" sz="2000" dirty="0">
                <a:solidFill>
                  <a:schemeClr val="accent1">
                    <a:lumMod val="50000"/>
                  </a:schemeClr>
                </a:solidFill>
                <a:latin typeface="Times New Roman" panose="02020603050405020304" pitchFamily="18" charset="0"/>
                <a:ea typeface="Noto Serif" pitchFamily="34" charset="-122"/>
                <a:cs typeface="Times New Roman" panose="02020603050405020304" pitchFamily="18" charset="0"/>
              </a:rPr>
              <a:t>Assistant Professor (Ad-hoc)</a:t>
            </a:r>
          </a:p>
          <a:p>
            <a:pPr algn="ctr"/>
            <a:r>
              <a:rPr lang="en-US" sz="2000" dirty="0">
                <a:latin typeface="Times New Roman" panose="02020603050405020304" pitchFamily="18" charset="0"/>
                <a:cs typeface="Times New Roman" panose="02020603050405020304" pitchFamily="18" charset="0"/>
              </a:rPr>
              <a:t>Department </a:t>
            </a:r>
            <a:r>
              <a:rPr lang="en-US" sz="2000">
                <a:latin typeface="Times New Roman" panose="02020603050405020304" pitchFamily="18" charset="0"/>
                <a:cs typeface="Times New Roman" panose="02020603050405020304" pitchFamily="18" charset="0"/>
              </a:rPr>
              <a:t>of ECE</a:t>
            </a:r>
            <a:endParaRPr lang="en-IN" sz="20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D589197-AA40-852C-29C9-15E8678426EB}"/>
              </a:ext>
            </a:extLst>
          </p:cNvPr>
          <p:cNvSpPr txBox="1"/>
          <p:nvPr/>
        </p:nvSpPr>
        <p:spPr>
          <a:xfrm>
            <a:off x="7374061" y="4965273"/>
            <a:ext cx="3074893" cy="656590"/>
          </a:xfrm>
          <a:prstGeom prst="rect">
            <a:avLst/>
          </a:prstGeom>
          <a:noFill/>
        </p:spPr>
        <p:txBody>
          <a:bodyPr wrap="square">
            <a:spAutoFit/>
          </a:bodyPr>
          <a:lstStyle/>
          <a:p>
            <a:pPr marL="0" indent="0" algn="l">
              <a:lnSpc>
                <a:spcPts val="2150"/>
              </a:lnSpc>
              <a:buNone/>
            </a:pPr>
            <a:r>
              <a:rPr lang="en-US">
                <a:solidFill>
                  <a:srgbClr val="4C4C4C"/>
                </a:solidFill>
                <a:latin typeface="Times New Roman" panose="02020603050405020304" pitchFamily="18" charset="0"/>
                <a:ea typeface="Noto Serif" pitchFamily="34" charset="-122"/>
                <a:cs typeface="Times New Roman" panose="02020603050405020304" pitchFamily="18" charset="0"/>
              </a:rPr>
              <a:t> </a:t>
            </a:r>
            <a:r>
              <a:rPr lang="en-US" b="1">
                <a:solidFill>
                  <a:srgbClr val="4C4C4C"/>
                </a:solidFill>
                <a:latin typeface="Times New Roman" panose="02020603050405020304" pitchFamily="18" charset="0"/>
                <a:ea typeface="Noto Serif" pitchFamily="34" charset="-122"/>
                <a:cs typeface="Times New Roman" panose="02020603050405020304" pitchFamily="18" charset="0"/>
              </a:rPr>
              <a:t>BATCH-16</a:t>
            </a:r>
          </a:p>
          <a:p>
            <a:pPr marL="0" indent="0" algn="l">
              <a:lnSpc>
                <a:spcPts val="2150"/>
              </a:lnSpc>
              <a:buNone/>
            </a:pPr>
            <a:r>
              <a:rPr lang="en-US" b="1">
                <a:solidFill>
                  <a:srgbClr val="4C4C4C"/>
                </a:solidFill>
                <a:latin typeface="Times New Roman" panose="02020603050405020304" pitchFamily="18" charset="0"/>
                <a:ea typeface="Noto Serif" pitchFamily="34" charset="-122"/>
                <a:cs typeface="Times New Roman" panose="02020603050405020304" pitchFamily="18" charset="0"/>
              </a:rPr>
              <a:t> PRESENTED BY </a:t>
            </a:r>
            <a:endParaRPr lang="en-IN" b="1">
              <a:latin typeface="Times New Roman" panose="02020603050405020304" pitchFamily="18" charset="0"/>
              <a:cs typeface="Times New Roman" panose="02020603050405020304" pitchFamily="18" charset="0"/>
            </a:endParaRPr>
          </a:p>
        </p:txBody>
      </p:sp>
      <p:sp>
        <p:nvSpPr>
          <p:cNvPr id="19" name="Subtitle 9">
            <a:extLst>
              <a:ext uri="{FF2B5EF4-FFF2-40B4-BE49-F238E27FC236}">
                <a16:creationId xmlns:a16="http://schemas.microsoft.com/office/drawing/2014/main" id="{92D497CA-83C1-2C5F-1122-B08166FBD18D}"/>
              </a:ext>
            </a:extLst>
          </p:cNvPr>
          <p:cNvSpPr txBox="1">
            <a:spLocks/>
          </p:cNvSpPr>
          <p:nvPr/>
        </p:nvSpPr>
        <p:spPr>
          <a:xfrm>
            <a:off x="6651812" y="6019714"/>
            <a:ext cx="5054525" cy="4705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2000">
                <a:latin typeface="Times New Roman" panose="02020603050405020304" pitchFamily="18" charset="0"/>
                <a:cs typeface="Times New Roman" panose="02020603050405020304" pitchFamily="18" charset="0"/>
              </a:rPr>
              <a:t>Mithaighar Faizia Anjum - 23KA5A0415</a:t>
            </a:r>
          </a:p>
          <a:p>
            <a:endParaRPr lang="en-GB"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717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7B89-2D3D-F64F-1BD9-AD670CEE3511}"/>
              </a:ext>
            </a:extLst>
          </p:cNvPr>
          <p:cNvSpPr>
            <a:spLocks noGrp="1"/>
          </p:cNvSpPr>
          <p:nvPr>
            <p:ph type="title"/>
          </p:nvPr>
        </p:nvSpPr>
        <p:spPr/>
        <p:txBody>
          <a:bodyPr/>
          <a:lstStyle/>
          <a:p>
            <a:r>
              <a:rPr lang="en-GB" sz="3200" dirty="0">
                <a:latin typeface="Times New Roman" panose="02020603050405020304" pitchFamily="18" charset="0"/>
                <a:cs typeface="Times New Roman" panose="02020603050405020304" pitchFamily="18" charset="0"/>
              </a:rPr>
              <a:t>LIST OF CONTENTS</a:t>
            </a:r>
            <a:endParaRPr lang="en-IN" sz="32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D8B51B1-F651-5C4F-720A-F0550BE2D717}"/>
              </a:ext>
            </a:extLst>
          </p:cNvPr>
          <p:cNvSpPr/>
          <p:nvPr/>
        </p:nvSpPr>
        <p:spPr>
          <a:xfrm>
            <a:off x="918880" y="1511768"/>
            <a:ext cx="8018931" cy="4769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Abstract</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Introduction</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Problem Statement and Objectives</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Existing Method</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Results of Existing Method</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Disadvantages of Existing Method</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Proposed Method</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Hardware and Software requirements</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Block Diagram</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Channel Coding Techniques </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Implementation and Working Process</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Results Overview</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Comparison of Existing system and proposed system</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Advantages and application of proposed method</a:t>
            </a:r>
          </a:p>
          <a:p>
            <a:pPr marL="457200" indent="-4572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Conclusion</a:t>
            </a:r>
            <a:br>
              <a:rPr lang="en-GB" sz="2000">
                <a:solidFill>
                  <a:schemeClr val="tx1"/>
                </a:solidFill>
                <a:latin typeface="Times New Roman" panose="02020603050405020304" pitchFamily="18" charset="0"/>
                <a:cs typeface="Times New Roman" panose="02020603050405020304" pitchFamily="18" charset="0"/>
              </a:rPr>
            </a:b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060034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36A8F6-2921-14D4-4AA9-FEDAB16DB436}"/>
              </a:ext>
            </a:extLst>
          </p:cNvPr>
          <p:cNvSpPr/>
          <p:nvPr/>
        </p:nvSpPr>
        <p:spPr>
          <a:xfrm>
            <a:off x="887505" y="638174"/>
            <a:ext cx="10363201" cy="800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400">
                <a:solidFill>
                  <a:schemeClr val="tx1"/>
                </a:solidFill>
                <a:latin typeface="Times New Roman" panose="02020603050405020304" pitchFamily="18" charset="0"/>
                <a:cs typeface="Times New Roman" panose="02020603050405020304" pitchFamily="18" charset="0"/>
              </a:rPr>
              <a:t>ABSTRACT</a:t>
            </a:r>
            <a:r>
              <a:rPr lang="en-GB" sz="3200">
                <a:solidFill>
                  <a:schemeClr val="accent1"/>
                </a:solidFill>
                <a:latin typeface="Times New Roman" panose="02020603050405020304" pitchFamily="18" charset="0"/>
                <a:cs typeface="Times New Roman" panose="02020603050405020304" pitchFamily="18" charset="0"/>
              </a:rPr>
              <a:t> </a:t>
            </a:r>
            <a:endParaRPr lang="en-IN" sz="3200" dirty="0">
              <a:solidFill>
                <a:schemeClr val="accent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890C6FF-9497-DECE-2D38-126ED105B789}"/>
              </a:ext>
            </a:extLst>
          </p:cNvPr>
          <p:cNvSpPr/>
          <p:nvPr/>
        </p:nvSpPr>
        <p:spPr>
          <a:xfrm>
            <a:off x="457200" y="847726"/>
            <a:ext cx="2228850" cy="5905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F2257DA-725D-E65A-8A02-039740FDD7FF}"/>
              </a:ext>
            </a:extLst>
          </p:cNvPr>
          <p:cNvSpPr/>
          <p:nvPr/>
        </p:nvSpPr>
        <p:spPr>
          <a:xfrm>
            <a:off x="219075" y="4038600"/>
            <a:ext cx="2466975"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029C4C8-7937-45C0-6D1F-7EB68403C5FE}"/>
              </a:ext>
            </a:extLst>
          </p:cNvPr>
          <p:cNvSpPr txBox="1"/>
          <p:nvPr/>
        </p:nvSpPr>
        <p:spPr>
          <a:xfrm>
            <a:off x="820270" y="1712817"/>
            <a:ext cx="10551459" cy="3785652"/>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               In wireless communication systems, data transmission is affected by </a:t>
            </a:r>
            <a:r>
              <a:rPr lang="en-GB" sz="2000" b="1">
                <a:latin typeface="Times New Roman" panose="02020603050405020304" pitchFamily="18" charset="0"/>
                <a:cs typeface="Times New Roman" panose="02020603050405020304" pitchFamily="18" charset="0"/>
              </a:rPr>
              <a:t>noise, interference, and fading</a:t>
            </a:r>
            <a:r>
              <a:rPr lang="en-GB" sz="2000">
                <a:latin typeface="Times New Roman" panose="02020603050405020304" pitchFamily="18" charset="0"/>
                <a:cs typeface="Times New Roman" panose="02020603050405020304" pitchFamily="18" charset="0"/>
              </a:rPr>
              <a:t>, which increases the Bit Error Rate (BER). Channel coding is an effective technique used to achieve reliable </a:t>
            </a:r>
            <a:r>
              <a:rPr lang="en-GB" sz="2000" b="1">
                <a:latin typeface="Times New Roman" panose="02020603050405020304" pitchFamily="18" charset="0"/>
                <a:cs typeface="Times New Roman" panose="02020603050405020304" pitchFamily="18" charset="0"/>
              </a:rPr>
              <a:t>wireless communication</a:t>
            </a:r>
            <a:r>
              <a:rPr lang="en-GB" sz="2000">
                <a:latin typeface="Times New Roman" panose="02020603050405020304" pitchFamily="18" charset="0"/>
                <a:cs typeface="Times New Roman" panose="02020603050405020304" pitchFamily="18" charset="0"/>
              </a:rPr>
              <a:t> with a low error rate. In different generations of wireless communication systems, various channel coding techniques such as, </a:t>
            </a:r>
            <a:r>
              <a:rPr lang="en-GB" sz="2000" b="1">
                <a:latin typeface="Times New Roman" panose="02020603050405020304" pitchFamily="18" charset="0"/>
                <a:cs typeface="Times New Roman" panose="02020603050405020304" pitchFamily="18" charset="0"/>
              </a:rPr>
              <a:t>convolutional codes</a:t>
            </a:r>
            <a:r>
              <a:rPr lang="en-GB" sz="2000">
                <a:latin typeface="Times New Roman" panose="02020603050405020304" pitchFamily="18" charset="0"/>
                <a:cs typeface="Times New Roman" panose="02020603050405020304" pitchFamily="18" charset="0"/>
              </a:rPr>
              <a:t>, </a:t>
            </a:r>
            <a:r>
              <a:rPr lang="en-GB" sz="2000" b="1">
                <a:latin typeface="Times New Roman" panose="02020603050405020304" pitchFamily="18" charset="0"/>
                <a:cs typeface="Times New Roman" panose="02020603050405020304" pitchFamily="18" charset="0"/>
              </a:rPr>
              <a:t>turbo codes</a:t>
            </a:r>
            <a:r>
              <a:rPr lang="en-GB" sz="2000">
                <a:latin typeface="Times New Roman" panose="02020603050405020304" pitchFamily="18" charset="0"/>
                <a:cs typeface="Times New Roman" panose="02020603050405020304" pitchFamily="18" charset="0"/>
              </a:rPr>
              <a:t>, have been used. However, advanced </a:t>
            </a:r>
            <a:r>
              <a:rPr lang="en-GB" sz="2000" b="1">
                <a:latin typeface="Times New Roman" panose="02020603050405020304" pitchFamily="18" charset="0"/>
                <a:cs typeface="Times New Roman" panose="02020603050405020304" pitchFamily="18" charset="0"/>
              </a:rPr>
              <a:t>5G and 6G communication systems</a:t>
            </a:r>
            <a:r>
              <a:rPr lang="en-GB" sz="2000">
                <a:latin typeface="Times New Roman" panose="02020603050405020304" pitchFamily="18" charset="0"/>
                <a:cs typeface="Times New Roman" panose="02020603050405020304" pitchFamily="18" charset="0"/>
              </a:rPr>
              <a:t> require channel coding methods that provide lower </a:t>
            </a:r>
            <a:r>
              <a:rPr lang="en-GB" sz="2000" b="1">
                <a:latin typeface="Times New Roman" panose="02020603050405020304" pitchFamily="18" charset="0"/>
                <a:cs typeface="Times New Roman" panose="02020603050405020304" pitchFamily="18" charset="0"/>
              </a:rPr>
              <a:t>Bit Error Rate (BER)</a:t>
            </a:r>
            <a:r>
              <a:rPr lang="en-GB" sz="2000">
                <a:latin typeface="Times New Roman" panose="02020603050405020304" pitchFamily="18" charset="0"/>
                <a:cs typeface="Times New Roman" panose="02020603050405020304" pitchFamily="18" charset="0"/>
              </a:rPr>
              <a:t> with reduced </a:t>
            </a:r>
            <a:r>
              <a:rPr lang="en-GB" sz="2000" b="1">
                <a:latin typeface="Times New Roman" panose="02020603050405020304" pitchFamily="18" charset="0"/>
                <a:cs typeface="Times New Roman" panose="02020603050405020304" pitchFamily="18" charset="0"/>
              </a:rPr>
              <a:t>computational complexity</a:t>
            </a:r>
            <a:r>
              <a:rPr lang="en-GB" sz="2000">
                <a:latin typeface="Times New Roman" panose="02020603050405020304" pitchFamily="18" charset="0"/>
                <a:cs typeface="Times New Roman" panose="02020603050405020304" pitchFamily="18" charset="0"/>
              </a:rPr>
              <a:t>.</a:t>
            </a:r>
          </a:p>
          <a:p>
            <a:pPr algn="just"/>
            <a:r>
              <a:rPr lang="en-GB" sz="2000">
                <a:latin typeface="Times New Roman" panose="02020603050405020304" pitchFamily="18" charset="0"/>
                <a:cs typeface="Times New Roman" panose="02020603050405020304" pitchFamily="18" charset="0"/>
              </a:rPr>
              <a:t>This project focuses on comparing the BER performance of different coding techniques such as </a:t>
            </a:r>
            <a:r>
              <a:rPr lang="en-GB" sz="2000" b="1">
                <a:latin typeface="Times New Roman" panose="02020603050405020304" pitchFamily="18" charset="0"/>
                <a:cs typeface="Times New Roman" panose="02020603050405020304" pitchFamily="18" charset="0"/>
              </a:rPr>
              <a:t>Convolutional codes, and Low-Density Patity-Check (LDPC) codes.</a:t>
            </a:r>
          </a:p>
          <a:p>
            <a:pPr algn="just"/>
            <a:r>
              <a:rPr lang="en-GB" sz="2000">
                <a:latin typeface="Times New Roman" panose="02020603050405020304" pitchFamily="18" charset="0"/>
                <a:cs typeface="Times New Roman" panose="02020603050405020304" pitchFamily="18" charset="0"/>
              </a:rPr>
              <a:t>Simulation results show that </a:t>
            </a:r>
            <a:r>
              <a:rPr lang="en-GB" sz="2000" b="1">
                <a:latin typeface="Times New Roman" panose="02020603050405020304" pitchFamily="18" charset="0"/>
                <a:cs typeface="Times New Roman" panose="02020603050405020304" pitchFamily="18" charset="0"/>
              </a:rPr>
              <a:t>LDPC codes</a:t>
            </a:r>
            <a:r>
              <a:rPr lang="en-GB" sz="2000">
                <a:latin typeface="Times New Roman" panose="02020603050405020304" pitchFamily="18" charset="0"/>
                <a:cs typeface="Times New Roman" panose="02020603050405020304" pitchFamily="18" charset="0"/>
              </a:rPr>
              <a:t> provide better </a:t>
            </a:r>
            <a:r>
              <a:rPr lang="en-GB" sz="2000" b="1">
                <a:latin typeface="Times New Roman" panose="02020603050405020304" pitchFamily="18" charset="0"/>
                <a:cs typeface="Times New Roman" panose="02020603050405020304" pitchFamily="18" charset="0"/>
              </a:rPr>
              <a:t>BER performance</a:t>
            </a:r>
            <a:r>
              <a:rPr lang="en-GB" sz="2000">
                <a:latin typeface="Times New Roman" panose="02020603050405020304" pitchFamily="18" charset="0"/>
                <a:cs typeface="Times New Roman" panose="02020603050405020304" pitchFamily="18" charset="0"/>
              </a:rPr>
              <a:t> with lower complexity compared to other coding techniques and making it suitable for advanced 5G and 6G networks. For further analysis, </a:t>
            </a:r>
            <a:r>
              <a:rPr lang="en-GB" sz="2000" b="1">
                <a:latin typeface="Times New Roman" panose="02020603050405020304" pitchFamily="18" charset="0"/>
                <a:cs typeface="Times New Roman" panose="02020603050405020304" pitchFamily="18" charset="0"/>
              </a:rPr>
              <a:t>turbo codes</a:t>
            </a:r>
            <a:r>
              <a:rPr lang="en-GB" sz="2000">
                <a:latin typeface="Times New Roman" panose="02020603050405020304" pitchFamily="18" charset="0"/>
                <a:cs typeface="Times New Roman" panose="02020603050405020304" pitchFamily="18" charset="0"/>
              </a:rPr>
              <a:t> and </a:t>
            </a:r>
            <a:r>
              <a:rPr lang="en-GB" sz="2000" b="1">
                <a:latin typeface="Times New Roman" panose="02020603050405020304" pitchFamily="18" charset="0"/>
                <a:cs typeface="Times New Roman" panose="02020603050405020304" pitchFamily="18" charset="0"/>
              </a:rPr>
              <a:t>polar codes</a:t>
            </a:r>
            <a:r>
              <a:rPr lang="en-GB" sz="2000">
                <a:latin typeface="Times New Roman" panose="02020603050405020304" pitchFamily="18" charset="0"/>
                <a:cs typeface="Times New Roman" panose="02020603050405020304" pitchFamily="18" charset="0"/>
              </a:rPr>
              <a:t> are also implemented, and the performance of all four coding techniques is compared based on BER.</a:t>
            </a:r>
          </a:p>
        </p:txBody>
      </p:sp>
    </p:spTree>
    <p:extLst>
      <p:ext uri="{BB962C8B-B14F-4D97-AF65-F5344CB8AC3E}">
        <p14:creationId xmlns:p14="http://schemas.microsoft.com/office/powerpoint/2010/main" val="249059049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D70C1-0452-6A16-BBC3-BC0177F8E0F4}"/>
              </a:ext>
            </a:extLst>
          </p:cNvPr>
          <p:cNvSpPr>
            <a:spLocks noGrp="1"/>
          </p:cNvSpPr>
          <p:nvPr>
            <p:ph type="title"/>
          </p:nvPr>
        </p:nvSpPr>
        <p:spPr>
          <a:xfrm>
            <a:off x="685798" y="340659"/>
            <a:ext cx="10515599" cy="930601"/>
          </a:xfrm>
        </p:spPr>
        <p:txBody>
          <a:bodyPr/>
          <a:lstStyle/>
          <a:p>
            <a:pPr algn="ctr"/>
            <a:r>
              <a:rPr lang="en-GB" dirty="0">
                <a:latin typeface="Times New Roman" panose="02020603050405020304" pitchFamily="18" charset="0"/>
                <a:cs typeface="Times New Roman" panose="02020603050405020304" pitchFamily="18" charset="0"/>
              </a:rPr>
              <a:t> INTRODUCTION</a:t>
            </a:r>
            <a:endParaRPr lang="en-IN"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E1EB9229-202C-A088-2431-AB9AAA806F31}"/>
              </a:ext>
            </a:extLst>
          </p:cNvPr>
          <p:cNvSpPr>
            <a:spLocks noGrp="1"/>
          </p:cNvSpPr>
          <p:nvPr>
            <p:ph idx="1"/>
          </p:nvPr>
        </p:nvSpPr>
        <p:spPr>
          <a:xfrm>
            <a:off x="760877" y="1109895"/>
            <a:ext cx="10670243" cy="2290482"/>
          </a:xfrm>
        </p:spPr>
        <p:txBody>
          <a:bodyPr>
            <a:normAutofit fontScale="62500" lnSpcReduction="20000"/>
          </a:bodyPr>
          <a:lstStyle/>
          <a:p>
            <a:pPr marL="0" indent="0" algn="just">
              <a:lnSpc>
                <a:spcPct val="120000"/>
              </a:lnSpc>
              <a:buNone/>
            </a:pPr>
            <a:r>
              <a:rPr lang="en-GB" sz="3200">
                <a:latin typeface="Times New Roman" panose="02020603050405020304" pitchFamily="18" charset="0"/>
                <a:cs typeface="Times New Roman" panose="02020603050405020304" pitchFamily="18" charset="0"/>
              </a:rPr>
              <a:t>Wireless communication systems are widely used in modern applications such as </a:t>
            </a:r>
            <a:r>
              <a:rPr lang="en-GB" sz="3200" b="1">
                <a:latin typeface="Times New Roman" panose="02020603050405020304" pitchFamily="18" charset="0"/>
                <a:cs typeface="Times New Roman" panose="02020603050405020304" pitchFamily="18" charset="0"/>
              </a:rPr>
              <a:t>mobile communication, IoT, and satellite systems.</a:t>
            </a:r>
            <a:r>
              <a:rPr lang="en-GB" sz="3200">
                <a:latin typeface="Times New Roman" panose="02020603050405020304" pitchFamily="18" charset="0"/>
                <a:cs typeface="Times New Roman" panose="02020603050405020304" pitchFamily="18" charset="0"/>
              </a:rPr>
              <a:t> However, during transmission, signals are affected by noise and interference, leading to errors in received data. So, the Channel coding plays a key role in improving data reliability by adding redundancy to the transmitted data.With the rapid evolution of mobile communication from 1G to 5G, there is a strong demand for </a:t>
            </a:r>
            <a:r>
              <a:rPr lang="en-GB" sz="3200" b="1">
                <a:latin typeface="Times New Roman" panose="02020603050405020304" pitchFamily="18" charset="0"/>
                <a:cs typeface="Times New Roman" panose="02020603050405020304" pitchFamily="18" charset="0"/>
              </a:rPr>
              <a:t>high data rates, better Quality of Service (QoS), and efficient use of available bandwidth.</a:t>
            </a:r>
            <a:r>
              <a:rPr lang="en-GB" sz="3200">
                <a:latin typeface="Times New Roman" panose="02020603050405020304" pitchFamily="18" charset="0"/>
                <a:cs typeface="Times New Roman" panose="02020603050405020304" pitchFamily="18" charset="0"/>
              </a:rPr>
              <a:t> In next-generation 6G systems, achieving high reliability and low latency is very important.</a:t>
            </a:r>
          </a:p>
          <a:p>
            <a:pPr marL="0" indent="0" algn="just">
              <a:lnSpc>
                <a:spcPct val="100000"/>
              </a:lnSpc>
              <a:buNone/>
            </a:pPr>
            <a:endParaRPr lang="en-GB" sz="2000">
              <a:latin typeface="Times New Roman" panose="02020603050405020304" pitchFamily="18" charset="0"/>
              <a:cs typeface="Times New Roman" panose="02020603050405020304" pitchFamily="18" charset="0"/>
            </a:endParaRPr>
          </a:p>
          <a:p>
            <a:pPr marL="0" indent="0">
              <a:buNone/>
            </a:pPr>
            <a:endParaRPr lang="en-IN" sz="2000"/>
          </a:p>
        </p:txBody>
      </p:sp>
      <p:pic>
        <p:nvPicPr>
          <p:cNvPr id="16" name="Picture 15">
            <a:extLst>
              <a:ext uri="{FF2B5EF4-FFF2-40B4-BE49-F238E27FC236}">
                <a16:creationId xmlns:a16="http://schemas.microsoft.com/office/drawing/2014/main" id="{53F84575-546D-7B37-D75F-665900F2FAFC}"/>
              </a:ext>
            </a:extLst>
          </p:cNvPr>
          <p:cNvPicPr>
            <a:picLocks noChangeAspect="1"/>
          </p:cNvPicPr>
          <p:nvPr/>
        </p:nvPicPr>
        <p:blipFill>
          <a:blip r:embed="rId2"/>
          <a:stretch>
            <a:fillRect/>
          </a:stretch>
        </p:blipFill>
        <p:spPr>
          <a:xfrm>
            <a:off x="2554937" y="3457624"/>
            <a:ext cx="7288310" cy="2290482"/>
          </a:xfrm>
          <a:prstGeom prst="rect">
            <a:avLst/>
          </a:prstGeom>
        </p:spPr>
      </p:pic>
      <p:sp>
        <p:nvSpPr>
          <p:cNvPr id="3" name="Rectangle 2">
            <a:extLst>
              <a:ext uri="{FF2B5EF4-FFF2-40B4-BE49-F238E27FC236}">
                <a16:creationId xmlns:a16="http://schemas.microsoft.com/office/drawing/2014/main" id="{74C376F6-3225-FE98-8352-77100F9B4F64}"/>
              </a:ext>
            </a:extLst>
          </p:cNvPr>
          <p:cNvSpPr/>
          <p:nvPr/>
        </p:nvSpPr>
        <p:spPr>
          <a:xfrm>
            <a:off x="2738716" y="5748104"/>
            <a:ext cx="6898344" cy="446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2000" b="1" spc="-5">
                <a:solidFill>
                  <a:srgbClr val="000000"/>
                </a:solidFill>
                <a:latin typeface="Times New Roman" panose="02020603050405020304" pitchFamily="18" charset="0"/>
                <a:cs typeface="Times New Roman" panose="02020603050405020304" pitchFamily="18" charset="0"/>
              </a:rPr>
              <a:t>Fig: Block Diagram of Digital Communication System</a:t>
            </a:r>
            <a:endParaRPr lang="en-IN" sz="2000" b="1" spc="-5">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785281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832802-57C1-B51C-D3DE-AB7223234283}"/>
              </a:ext>
            </a:extLst>
          </p:cNvPr>
          <p:cNvSpPr txBox="1"/>
          <p:nvPr/>
        </p:nvSpPr>
        <p:spPr>
          <a:xfrm>
            <a:off x="546847" y="412377"/>
            <a:ext cx="5809130" cy="646331"/>
          </a:xfrm>
          <a:prstGeom prst="rect">
            <a:avLst/>
          </a:prstGeom>
          <a:noFill/>
        </p:spPr>
        <p:txBody>
          <a:bodyPr wrap="square">
            <a:spAutoFit/>
          </a:bodyPr>
          <a:lstStyle/>
          <a:p>
            <a:r>
              <a:rPr lang="en-IN" sz="3600">
                <a:latin typeface="Times New Roman" panose="02020603050405020304" pitchFamily="18" charset="0"/>
                <a:cs typeface="Times New Roman" panose="02020603050405020304" pitchFamily="18" charset="0"/>
              </a:rPr>
              <a:t>Problem Statement</a:t>
            </a:r>
          </a:p>
        </p:txBody>
      </p:sp>
      <p:sp>
        <p:nvSpPr>
          <p:cNvPr id="4" name="Rectangle 3">
            <a:extLst>
              <a:ext uri="{FF2B5EF4-FFF2-40B4-BE49-F238E27FC236}">
                <a16:creationId xmlns:a16="http://schemas.microsoft.com/office/drawing/2014/main" id="{0B7CD401-ED80-E231-2270-4E81A9210DE2}"/>
              </a:ext>
            </a:extLst>
          </p:cNvPr>
          <p:cNvSpPr/>
          <p:nvPr/>
        </p:nvSpPr>
        <p:spPr>
          <a:xfrm>
            <a:off x="546847" y="991525"/>
            <a:ext cx="10883152" cy="2877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GB" sz="2000">
                <a:solidFill>
                  <a:schemeClr val="tx1"/>
                </a:solidFill>
                <a:latin typeface="Times New Roman" panose="02020603050405020304" pitchFamily="18" charset="0"/>
                <a:cs typeface="Times New Roman" panose="02020603050405020304" pitchFamily="18" charset="0"/>
              </a:rPr>
              <a:t>In wireless communication systems, signal transmission is affected by noise, interference, and channel fading, </a:t>
            </a:r>
            <a:r>
              <a:rPr lang="en-GB" sz="2000" b="1">
                <a:solidFill>
                  <a:schemeClr val="tx1"/>
                </a:solidFill>
                <a:latin typeface="Times New Roman" panose="02020603050405020304" pitchFamily="18" charset="0"/>
                <a:cs typeface="Times New Roman" panose="02020603050405020304" pitchFamily="18" charset="0"/>
              </a:rPr>
              <a:t>which increases the Bit Error Rate (BER).</a:t>
            </a:r>
          </a:p>
          <a:p>
            <a:pPr algn="just"/>
            <a:r>
              <a:rPr lang="en-GB" sz="2000">
                <a:solidFill>
                  <a:schemeClr val="tx1"/>
                </a:solidFill>
                <a:latin typeface="Times New Roman" panose="02020603050405020304" pitchFamily="18" charset="0"/>
                <a:cs typeface="Times New Roman" panose="02020603050405020304" pitchFamily="18" charset="0"/>
              </a:rPr>
              <a:t>As communication systems evolve towards 6G, there is a demand for:</a:t>
            </a:r>
          </a:p>
          <a:p>
            <a:pPr algn="just">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  Ultra-reliable communication </a:t>
            </a:r>
          </a:p>
          <a:p>
            <a:pPr algn="just">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  High data rates</a:t>
            </a:r>
          </a:p>
          <a:p>
            <a:pPr algn="just">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  Low latency </a:t>
            </a:r>
          </a:p>
          <a:p>
            <a:pPr algn="just"/>
            <a:r>
              <a:rPr lang="en-GB" sz="2000">
                <a:solidFill>
                  <a:schemeClr val="tx1"/>
                </a:solidFill>
                <a:latin typeface="Times New Roman" panose="02020603050405020304" pitchFamily="18" charset="0"/>
                <a:cs typeface="Times New Roman" panose="02020603050405020304" pitchFamily="18" charset="0"/>
              </a:rPr>
              <a:t>Different channel coding techniques provide different levels of </a:t>
            </a:r>
            <a:r>
              <a:rPr lang="en-GB" sz="2000" b="1">
                <a:solidFill>
                  <a:schemeClr val="tx1"/>
                </a:solidFill>
                <a:latin typeface="Times New Roman" panose="02020603050405020304" pitchFamily="18" charset="0"/>
                <a:cs typeface="Times New Roman" panose="02020603050405020304" pitchFamily="18" charset="0"/>
              </a:rPr>
              <a:t>performance and complexity.</a:t>
            </a:r>
          </a:p>
          <a:p>
            <a:pPr algn="just"/>
            <a:r>
              <a:rPr lang="en-GB" sz="2000">
                <a:solidFill>
                  <a:schemeClr val="tx1"/>
                </a:solidFill>
                <a:latin typeface="Times New Roman" panose="02020603050405020304" pitchFamily="18" charset="0"/>
                <a:cs typeface="Times New Roman" panose="02020603050405020304" pitchFamily="18" charset="0"/>
              </a:rPr>
              <a:t>Therefore, it is necessary to analyze and compare these techniques to identify the most efficient method that </a:t>
            </a:r>
            <a:r>
              <a:rPr lang="en-GB" sz="2000" b="1">
                <a:solidFill>
                  <a:schemeClr val="tx1"/>
                </a:solidFill>
                <a:latin typeface="Times New Roman" panose="02020603050405020304" pitchFamily="18" charset="0"/>
                <a:cs typeface="Times New Roman" panose="02020603050405020304" pitchFamily="18" charset="0"/>
              </a:rPr>
              <a:t>minimizes BER </a:t>
            </a:r>
            <a:r>
              <a:rPr lang="en-GB" sz="2000">
                <a:solidFill>
                  <a:schemeClr val="tx1"/>
                </a:solidFill>
                <a:latin typeface="Times New Roman" panose="02020603050405020304" pitchFamily="18" charset="0"/>
                <a:cs typeface="Times New Roman" panose="02020603050405020304" pitchFamily="18" charset="0"/>
              </a:rPr>
              <a:t>while maintaining system efficiency.</a:t>
            </a:r>
          </a:p>
        </p:txBody>
      </p:sp>
      <p:sp>
        <p:nvSpPr>
          <p:cNvPr id="8" name="TextBox 7">
            <a:extLst>
              <a:ext uri="{FF2B5EF4-FFF2-40B4-BE49-F238E27FC236}">
                <a16:creationId xmlns:a16="http://schemas.microsoft.com/office/drawing/2014/main" id="{A365BF10-D441-D28B-A844-084B64BD5900}"/>
              </a:ext>
            </a:extLst>
          </p:cNvPr>
          <p:cNvSpPr txBox="1"/>
          <p:nvPr/>
        </p:nvSpPr>
        <p:spPr>
          <a:xfrm>
            <a:off x="528918" y="3802337"/>
            <a:ext cx="6096000" cy="646331"/>
          </a:xfrm>
          <a:prstGeom prst="rect">
            <a:avLst/>
          </a:prstGeom>
          <a:noFill/>
        </p:spPr>
        <p:txBody>
          <a:bodyPr wrap="square">
            <a:spAutoFit/>
          </a:bodyPr>
          <a:lstStyle/>
          <a:p>
            <a:r>
              <a:rPr lang="en-IN" sz="3600">
                <a:latin typeface="Times New Roman" panose="02020603050405020304" pitchFamily="18" charset="0"/>
                <a:cs typeface="Times New Roman" panose="02020603050405020304" pitchFamily="18" charset="0"/>
              </a:rPr>
              <a:t>Objectives</a:t>
            </a:r>
          </a:p>
        </p:txBody>
      </p:sp>
      <p:sp>
        <p:nvSpPr>
          <p:cNvPr id="12" name="TextBox 11">
            <a:extLst>
              <a:ext uri="{FF2B5EF4-FFF2-40B4-BE49-F238E27FC236}">
                <a16:creationId xmlns:a16="http://schemas.microsoft.com/office/drawing/2014/main" id="{462A820C-6654-8344-7E82-A41D97D07EF5}"/>
              </a:ext>
            </a:extLst>
          </p:cNvPr>
          <p:cNvSpPr txBox="1"/>
          <p:nvPr/>
        </p:nvSpPr>
        <p:spPr>
          <a:xfrm>
            <a:off x="546847" y="4448668"/>
            <a:ext cx="8157882" cy="1631216"/>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design a communication system model</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study different channel coding techniques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simulate the system using MATLAB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analyze BER performance of different techniques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To identify the best coding technique for advanced 5G 6G networks </a:t>
            </a:r>
          </a:p>
        </p:txBody>
      </p:sp>
    </p:spTree>
    <p:extLst>
      <p:ext uri="{BB962C8B-B14F-4D97-AF65-F5344CB8AC3E}">
        <p14:creationId xmlns:p14="http://schemas.microsoft.com/office/powerpoint/2010/main" val="24681213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287784-F1B0-0411-2BA0-41757ED8F0B2}"/>
              </a:ext>
            </a:extLst>
          </p:cNvPr>
          <p:cNvSpPr>
            <a:spLocks noGrp="1"/>
          </p:cNvSpPr>
          <p:nvPr>
            <p:ph idx="1"/>
          </p:nvPr>
        </p:nvSpPr>
        <p:spPr>
          <a:xfrm>
            <a:off x="448620" y="3028041"/>
            <a:ext cx="7732853" cy="3725185"/>
          </a:xfrm>
        </p:spPr>
        <p:txBody>
          <a:bodyPr/>
          <a:lstStyle/>
          <a:p>
            <a:pPr marL="0" indent="0">
              <a:buNone/>
            </a:pPr>
            <a:r>
              <a:rPr lang="en-GB" dirty="0"/>
              <a:t>                                                               </a:t>
            </a:r>
            <a:endParaRPr lang="en-IN" dirty="0"/>
          </a:p>
        </p:txBody>
      </p:sp>
      <p:sp>
        <p:nvSpPr>
          <p:cNvPr id="4" name="Rectangle 3">
            <a:extLst>
              <a:ext uri="{FF2B5EF4-FFF2-40B4-BE49-F238E27FC236}">
                <a16:creationId xmlns:a16="http://schemas.microsoft.com/office/drawing/2014/main" id="{9CEF0CAB-1420-3E98-5C83-F71B82F6C1C2}"/>
              </a:ext>
            </a:extLst>
          </p:cNvPr>
          <p:cNvSpPr/>
          <p:nvPr/>
        </p:nvSpPr>
        <p:spPr>
          <a:xfrm>
            <a:off x="788894" y="1461248"/>
            <a:ext cx="10058400" cy="4751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b="1" u="sng" dirty="0">
              <a:solidFill>
                <a:schemeClr val="accent1"/>
              </a:solidFill>
            </a:endParaRPr>
          </a:p>
        </p:txBody>
      </p:sp>
      <p:sp>
        <p:nvSpPr>
          <p:cNvPr id="5" name="Rectangle 4">
            <a:extLst>
              <a:ext uri="{FF2B5EF4-FFF2-40B4-BE49-F238E27FC236}">
                <a16:creationId xmlns:a16="http://schemas.microsoft.com/office/drawing/2014/main" id="{242CD118-349F-CD5A-68EE-842909099954}"/>
              </a:ext>
            </a:extLst>
          </p:cNvPr>
          <p:cNvSpPr/>
          <p:nvPr/>
        </p:nvSpPr>
        <p:spPr>
          <a:xfrm>
            <a:off x="1090862" y="1577940"/>
            <a:ext cx="9953656" cy="4356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7798E865-12B1-2FF7-BCB4-FC17B43A0824}"/>
              </a:ext>
            </a:extLst>
          </p:cNvPr>
          <p:cNvSpPr/>
          <p:nvPr/>
        </p:nvSpPr>
        <p:spPr>
          <a:xfrm>
            <a:off x="448620" y="2704190"/>
            <a:ext cx="11362380" cy="3906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dirty="0">
              <a:solidFill>
                <a:schemeClr val="tx1"/>
              </a:solidFill>
            </a:endParaRPr>
          </a:p>
        </p:txBody>
      </p:sp>
      <p:sp>
        <p:nvSpPr>
          <p:cNvPr id="9" name="Title 8">
            <a:extLst>
              <a:ext uri="{FF2B5EF4-FFF2-40B4-BE49-F238E27FC236}">
                <a16:creationId xmlns:a16="http://schemas.microsoft.com/office/drawing/2014/main" id="{6A40517F-48CC-1F03-0A1F-F10573373983}"/>
              </a:ext>
            </a:extLst>
          </p:cNvPr>
          <p:cNvSpPr>
            <a:spLocks noGrp="1"/>
          </p:cNvSpPr>
          <p:nvPr>
            <p:ph type="title"/>
          </p:nvPr>
        </p:nvSpPr>
        <p:spPr>
          <a:xfrm>
            <a:off x="676776" y="575381"/>
            <a:ext cx="4191000" cy="800815"/>
          </a:xfrm>
        </p:spPr>
        <p:txBody>
          <a:bodyPr>
            <a:normAutofit/>
          </a:bodyPr>
          <a:lstStyle/>
          <a:p>
            <a:r>
              <a:rPr lang="en-GB">
                <a:latin typeface="Times New Roman" panose="02020603050405020304" pitchFamily="18" charset="0"/>
                <a:cs typeface="Times New Roman" panose="02020603050405020304" pitchFamily="18" charset="0"/>
              </a:rPr>
              <a:t>Existing Method:</a:t>
            </a:r>
            <a:endParaRPr lang="en-IN">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1EF00E3-EF4B-8840-EE23-CF55D012B629}"/>
              </a:ext>
            </a:extLst>
          </p:cNvPr>
          <p:cNvSpPr txBox="1"/>
          <p:nvPr/>
        </p:nvSpPr>
        <p:spPr>
          <a:xfrm>
            <a:off x="676776" y="1300131"/>
            <a:ext cx="10553906" cy="1323439"/>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The existing system uses a </a:t>
            </a:r>
            <a:r>
              <a:rPr lang="en-GB" sz="2000" b="1">
                <a:latin typeface="Times New Roman" panose="02020603050405020304" pitchFamily="18" charset="0"/>
                <a:cs typeface="Times New Roman" panose="02020603050405020304" pitchFamily="18" charset="0"/>
              </a:rPr>
              <a:t>MIMO-OFDM communication framework</a:t>
            </a:r>
            <a:r>
              <a:rPr lang="en-GB" sz="2000">
                <a:latin typeface="Times New Roman" panose="02020603050405020304" pitchFamily="18" charset="0"/>
                <a:cs typeface="Times New Roman" panose="02020603050405020304" pitchFamily="18" charset="0"/>
              </a:rPr>
              <a:t>, where </a:t>
            </a:r>
            <a:r>
              <a:rPr lang="en-GB" sz="2000" b="1">
                <a:latin typeface="Times New Roman" panose="02020603050405020304" pitchFamily="18" charset="0"/>
                <a:cs typeface="Times New Roman" panose="02020603050405020304" pitchFamily="18" charset="0"/>
              </a:rPr>
              <a:t>Orthogonal Frequency Division Multiplexing (OFDM)</a:t>
            </a:r>
            <a:r>
              <a:rPr lang="en-GB" sz="2000">
                <a:latin typeface="Times New Roman" panose="02020603050405020304" pitchFamily="18" charset="0"/>
                <a:cs typeface="Times New Roman" panose="02020603050405020304" pitchFamily="18" charset="0"/>
              </a:rPr>
              <a:t> divides high data rate signals into multiple low-rate subcarriers to improve </a:t>
            </a:r>
            <a:r>
              <a:rPr lang="en-GB" sz="2000" b="1">
                <a:latin typeface="Times New Roman" panose="02020603050405020304" pitchFamily="18" charset="0"/>
                <a:cs typeface="Times New Roman" panose="02020603050405020304" pitchFamily="18" charset="0"/>
              </a:rPr>
              <a:t>spectral efficiency</a:t>
            </a:r>
            <a:r>
              <a:rPr lang="en-GB" sz="2000">
                <a:latin typeface="Times New Roman" panose="02020603050405020304" pitchFamily="18" charset="0"/>
                <a:cs typeface="Times New Roman" panose="02020603050405020304" pitchFamily="18" charset="0"/>
              </a:rPr>
              <a:t> and reduce </a:t>
            </a:r>
            <a:r>
              <a:rPr lang="en-GB" sz="2000" b="1">
                <a:latin typeface="Times New Roman" panose="02020603050405020304" pitchFamily="18" charset="0"/>
                <a:cs typeface="Times New Roman" panose="02020603050405020304" pitchFamily="18" charset="0"/>
              </a:rPr>
              <a:t>inter-symbol interference</a:t>
            </a:r>
            <a:r>
              <a:rPr lang="en-GB" sz="2000">
                <a:latin typeface="Times New Roman" panose="02020603050405020304" pitchFamily="18" charset="0"/>
                <a:cs typeface="Times New Roman" panose="02020603050405020304" pitchFamily="18" charset="0"/>
              </a:rPr>
              <a:t>. To further enhance performance, </a:t>
            </a:r>
            <a:r>
              <a:rPr lang="en-GB" sz="2000" b="1">
                <a:latin typeface="Times New Roman" panose="02020603050405020304" pitchFamily="18" charset="0"/>
                <a:cs typeface="Times New Roman" panose="02020603050405020304" pitchFamily="18" charset="0"/>
              </a:rPr>
              <a:t>Multiple-Input Multiple-Output (MIMO)</a:t>
            </a:r>
            <a:r>
              <a:rPr lang="en-GB" sz="2000">
                <a:latin typeface="Times New Roman" panose="02020603050405020304" pitchFamily="18" charset="0"/>
                <a:cs typeface="Times New Roman" panose="02020603050405020304" pitchFamily="18" charset="0"/>
              </a:rPr>
              <a:t> technology is used.</a:t>
            </a:r>
            <a:endParaRPr lang="en-IN" sz="20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008E62DD-CF09-C429-5893-D2DD13026C1A}"/>
              </a:ext>
            </a:extLst>
          </p:cNvPr>
          <p:cNvPicPr/>
          <p:nvPr/>
        </p:nvPicPr>
        <p:blipFill>
          <a:blip r:embed="rId2"/>
          <a:stretch>
            <a:fillRect/>
          </a:stretch>
        </p:blipFill>
        <p:spPr>
          <a:xfrm>
            <a:off x="2623572" y="2867690"/>
            <a:ext cx="6323204" cy="2935432"/>
          </a:xfrm>
          <a:prstGeom prst="rect">
            <a:avLst/>
          </a:prstGeom>
        </p:spPr>
      </p:pic>
      <p:sp>
        <p:nvSpPr>
          <p:cNvPr id="17" name="TextBox 16">
            <a:extLst>
              <a:ext uri="{FF2B5EF4-FFF2-40B4-BE49-F238E27FC236}">
                <a16:creationId xmlns:a16="http://schemas.microsoft.com/office/drawing/2014/main" id="{B76822B8-05A9-B381-3FF7-5A1EDC1F134A}"/>
              </a:ext>
            </a:extLst>
          </p:cNvPr>
          <p:cNvSpPr txBox="1"/>
          <p:nvPr/>
        </p:nvSpPr>
        <p:spPr>
          <a:xfrm>
            <a:off x="2623572" y="5754370"/>
            <a:ext cx="6096000" cy="458074"/>
          </a:xfrm>
          <a:prstGeom prst="rect">
            <a:avLst/>
          </a:prstGeom>
          <a:noFill/>
        </p:spPr>
        <p:txBody>
          <a:bodyPr wrap="square">
            <a:spAutoFit/>
          </a:bodyPr>
          <a:lstStyle/>
          <a:p>
            <a:pPr algn="ctr">
              <a:lnSpc>
                <a:spcPct val="150000"/>
              </a:lnSpc>
            </a:pPr>
            <a:r>
              <a:rPr lang="en-US" sz="1800" b="1" spc="-5">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Fig: Block Diagram </a:t>
            </a:r>
            <a:r>
              <a:rPr lang="en-US" b="1" spc="-5">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of</a:t>
            </a:r>
            <a:r>
              <a:rPr lang="en-US" b="1">
                <a:latin typeface="Times New Roman" panose="02020603050405020304" pitchFamily="18" charset="0"/>
                <a:cs typeface="Times New Roman" panose="02020603050405020304" pitchFamily="18" charset="0"/>
              </a:rPr>
              <a:t> Existing Method</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03028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9065-9B47-A04E-0400-7E872F0D7AF5}"/>
              </a:ext>
            </a:extLst>
          </p:cNvPr>
          <p:cNvSpPr>
            <a:spLocks noGrp="1"/>
          </p:cNvSpPr>
          <p:nvPr>
            <p:ph type="title"/>
          </p:nvPr>
        </p:nvSpPr>
        <p:spPr/>
        <p:txBody>
          <a:bodyPr/>
          <a:lstStyle/>
          <a:p>
            <a:r>
              <a:rPr lang="en-GB" dirty="0"/>
              <a:t> </a:t>
            </a:r>
            <a:endParaRPr lang="en-IN" dirty="0"/>
          </a:p>
        </p:txBody>
      </p:sp>
      <p:sp>
        <p:nvSpPr>
          <p:cNvPr id="18" name="Rectangle 17">
            <a:extLst>
              <a:ext uri="{FF2B5EF4-FFF2-40B4-BE49-F238E27FC236}">
                <a16:creationId xmlns:a16="http://schemas.microsoft.com/office/drawing/2014/main" id="{D6DBD4A6-3BFE-F02D-02C1-17C8DE6435D3}"/>
              </a:ext>
            </a:extLst>
          </p:cNvPr>
          <p:cNvSpPr/>
          <p:nvPr/>
        </p:nvSpPr>
        <p:spPr>
          <a:xfrm>
            <a:off x="659958" y="683333"/>
            <a:ext cx="5010220" cy="962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latin typeface="Times New Roman" panose="02020603050405020304" pitchFamily="18" charset="0"/>
                <a:cs typeface="Times New Roman" panose="02020603050405020304" pitchFamily="18" charset="0"/>
              </a:rPr>
              <a:t>Some related pictures</a:t>
            </a:r>
            <a:endParaRPr lang="en-IN" sz="3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4DE2B29-7340-88BF-D727-05EA864D4FA7}"/>
              </a:ext>
            </a:extLst>
          </p:cNvPr>
          <p:cNvSpPr txBox="1"/>
          <p:nvPr/>
        </p:nvSpPr>
        <p:spPr>
          <a:xfrm>
            <a:off x="582706" y="880557"/>
            <a:ext cx="10771094" cy="1323439"/>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The system processes data through </a:t>
            </a:r>
            <a:r>
              <a:rPr lang="en-GB" sz="2000" b="1">
                <a:latin typeface="Times New Roman" panose="02020603050405020304" pitchFamily="18" charset="0"/>
                <a:cs typeface="Times New Roman" panose="02020603050405020304" pitchFamily="18" charset="0"/>
              </a:rPr>
              <a:t>encoding, interleaving, modulation</a:t>
            </a:r>
            <a:r>
              <a:rPr lang="en-GB" sz="2000">
                <a:latin typeface="Times New Roman" panose="02020603050405020304" pitchFamily="18" charset="0"/>
                <a:cs typeface="Times New Roman" panose="02020603050405020304" pitchFamily="18" charset="0"/>
              </a:rPr>
              <a:t>, transmission over a </a:t>
            </a:r>
            <a:r>
              <a:rPr lang="en-GB" sz="2000" b="1">
                <a:latin typeface="Times New Roman" panose="02020603050405020304" pitchFamily="18" charset="0"/>
                <a:cs typeface="Times New Roman" panose="02020603050405020304" pitchFamily="18" charset="0"/>
              </a:rPr>
              <a:t>noisy channel</a:t>
            </a:r>
            <a:r>
              <a:rPr lang="en-GB" sz="2000">
                <a:latin typeface="Times New Roman" panose="02020603050405020304" pitchFamily="18" charset="0"/>
                <a:cs typeface="Times New Roman" panose="02020603050405020304" pitchFamily="18" charset="0"/>
              </a:rPr>
              <a:t>, and </a:t>
            </a:r>
            <a:r>
              <a:rPr lang="en-GB" sz="2000" b="1">
                <a:latin typeface="Times New Roman" panose="02020603050405020304" pitchFamily="18" charset="0"/>
                <a:cs typeface="Times New Roman" panose="02020603050405020304" pitchFamily="18" charset="0"/>
              </a:rPr>
              <a:t>decoding</a:t>
            </a:r>
            <a:r>
              <a:rPr lang="en-GB" sz="2000">
                <a:latin typeface="Times New Roman" panose="02020603050405020304" pitchFamily="18" charset="0"/>
                <a:cs typeface="Times New Roman" panose="02020603050405020304" pitchFamily="18" charset="0"/>
              </a:rPr>
              <a:t> at the receiver. Although this approach improves performance and reduces errors, it has limitations in handling noise efficiently and achieving very low </a:t>
            </a:r>
            <a:r>
              <a:rPr lang="en-GB" sz="2000" b="1">
                <a:latin typeface="Times New Roman" panose="02020603050405020304" pitchFamily="18" charset="0"/>
                <a:cs typeface="Times New Roman" panose="02020603050405020304" pitchFamily="18" charset="0"/>
              </a:rPr>
              <a:t>Bit Error Rate (BER)</a:t>
            </a:r>
            <a:r>
              <a:rPr lang="en-GB" sz="2000">
                <a:latin typeface="Times New Roman" panose="02020603050405020304" pitchFamily="18" charset="0"/>
                <a:cs typeface="Times New Roman" panose="02020603050405020304" pitchFamily="18" charset="0"/>
              </a:rPr>
              <a:t> required for advanced </a:t>
            </a:r>
            <a:r>
              <a:rPr lang="en-GB" sz="2000" b="1">
                <a:latin typeface="Times New Roman" panose="02020603050405020304" pitchFamily="18" charset="0"/>
                <a:cs typeface="Times New Roman" panose="02020603050405020304" pitchFamily="18" charset="0"/>
              </a:rPr>
              <a:t>5G and 6G communication systems</a:t>
            </a:r>
            <a:r>
              <a:rPr lang="en-GB" sz="200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A07C5E8B-9743-A51F-F212-564382145958}"/>
              </a:ext>
            </a:extLst>
          </p:cNvPr>
          <p:cNvSpPr txBox="1"/>
          <p:nvPr/>
        </p:nvSpPr>
        <p:spPr>
          <a:xfrm>
            <a:off x="4957483" y="2756451"/>
            <a:ext cx="1739151" cy="400110"/>
          </a:xfrm>
          <a:prstGeom prst="rect">
            <a:avLst/>
          </a:prstGeom>
          <a:noFill/>
        </p:spPr>
        <p:txBody>
          <a:bodyPr wrap="square">
            <a:spAutoFit/>
          </a:bodyPr>
          <a:lstStyle/>
          <a:p>
            <a:r>
              <a:rPr lang="en-IN" sz="2000" b="1">
                <a:latin typeface="Times New Roman" panose="02020603050405020304" pitchFamily="18" charset="0"/>
                <a:cs typeface="Times New Roman" panose="02020603050405020304" pitchFamily="18" charset="0"/>
              </a:rPr>
              <a:t>R = 1 / Tsym</a:t>
            </a:r>
          </a:p>
        </p:txBody>
      </p:sp>
      <p:sp>
        <p:nvSpPr>
          <p:cNvPr id="25" name="TextBox 24">
            <a:extLst>
              <a:ext uri="{FF2B5EF4-FFF2-40B4-BE49-F238E27FC236}">
                <a16:creationId xmlns:a16="http://schemas.microsoft.com/office/drawing/2014/main" id="{76E4E30F-F887-D212-CDCB-815CE612701B}"/>
              </a:ext>
            </a:extLst>
          </p:cNvPr>
          <p:cNvSpPr txBox="1"/>
          <p:nvPr/>
        </p:nvSpPr>
        <p:spPr>
          <a:xfrm>
            <a:off x="582705" y="2295557"/>
            <a:ext cx="7404847" cy="400110"/>
          </a:xfrm>
          <a:prstGeom prst="rect">
            <a:avLst/>
          </a:prstGeom>
          <a:noFill/>
        </p:spPr>
        <p:txBody>
          <a:bodyPr wrap="square">
            <a:spAutoFit/>
          </a:bodyPr>
          <a:lstStyle/>
          <a:p>
            <a:r>
              <a:rPr lang="en-GB" sz="2000">
                <a:latin typeface="Times New Roman" panose="02020603050405020304" pitchFamily="18" charset="0"/>
                <a:cs typeface="Times New Roman" panose="02020603050405020304" pitchFamily="18" charset="0"/>
              </a:rPr>
              <a:t>The relationship between data rate and symbol duration is given by:</a:t>
            </a:r>
            <a:endParaRPr lang="en-IN" sz="2000"/>
          </a:p>
        </p:txBody>
      </p:sp>
      <p:sp>
        <p:nvSpPr>
          <p:cNvPr id="27" name="Rectangle 26">
            <a:extLst>
              <a:ext uri="{FF2B5EF4-FFF2-40B4-BE49-F238E27FC236}">
                <a16:creationId xmlns:a16="http://schemas.microsoft.com/office/drawing/2014/main" id="{35842FC4-8CF0-0260-178E-B9E287EF5205}"/>
              </a:ext>
            </a:extLst>
          </p:cNvPr>
          <p:cNvSpPr/>
          <p:nvPr/>
        </p:nvSpPr>
        <p:spPr>
          <a:xfrm>
            <a:off x="923363" y="3429000"/>
            <a:ext cx="7557249" cy="1385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b="1">
                <a:solidFill>
                  <a:schemeClr val="tx1"/>
                </a:solidFill>
                <a:latin typeface="Times New Roman" panose="02020603050405020304" pitchFamily="18" charset="0"/>
                <a:cs typeface="Times New Roman" panose="02020603050405020304" pitchFamily="18" charset="0"/>
              </a:rPr>
              <a:t>Where:</a:t>
            </a:r>
          </a:p>
          <a:p>
            <a:pPr marL="342900" indent="-3429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R = Data rate (symbols per second) </a:t>
            </a:r>
          </a:p>
          <a:p>
            <a:pPr marL="342900" indent="-342900">
              <a:buFont typeface="Arial" panose="020B0604020202020204" pitchFamily="34" charset="0"/>
              <a:buChar char="•"/>
            </a:pPr>
            <a:r>
              <a:rPr lang="en-GB" sz="2000">
                <a:solidFill>
                  <a:schemeClr val="tx1"/>
                </a:solidFill>
                <a:latin typeface="Times New Roman" panose="02020603050405020304" pitchFamily="18" charset="0"/>
                <a:cs typeface="Times New Roman" panose="02020603050405020304" pitchFamily="18" charset="0"/>
              </a:rPr>
              <a:t>Tsym = Symbol duration (time taken to transmit one symbol) </a:t>
            </a:r>
          </a:p>
        </p:txBody>
      </p:sp>
    </p:spTree>
    <p:extLst>
      <p:ext uri="{BB962C8B-B14F-4D97-AF65-F5344CB8AC3E}">
        <p14:creationId xmlns:p14="http://schemas.microsoft.com/office/powerpoint/2010/main" val="143714694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7BFCCC-3686-48B2-E222-F0E79BFC80A4}"/>
              </a:ext>
            </a:extLst>
          </p:cNvPr>
          <p:cNvSpPr txBox="1"/>
          <p:nvPr/>
        </p:nvSpPr>
        <p:spPr>
          <a:xfrm>
            <a:off x="555812" y="599745"/>
            <a:ext cx="6750424" cy="523220"/>
          </a:xfrm>
          <a:prstGeom prst="rect">
            <a:avLst/>
          </a:prstGeom>
          <a:noFill/>
        </p:spPr>
        <p:txBody>
          <a:bodyPr wrap="square">
            <a:spAutoFit/>
          </a:bodyPr>
          <a:lstStyle/>
          <a:p>
            <a:r>
              <a:rPr lang="en-GB" sz="2800" b="1">
                <a:latin typeface="Times New Roman" panose="02020603050405020304" pitchFamily="18" charset="0"/>
                <a:cs typeface="Times New Roman" panose="02020603050405020304" pitchFamily="18" charset="0"/>
              </a:rPr>
              <a:t>RESULTS OF EXISTING SYSTEM </a:t>
            </a:r>
            <a:endParaRPr lang="en-IN" sz="28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D2CB268-A43E-E4CB-5AF2-A789463113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6950" y="1122965"/>
            <a:ext cx="5169050" cy="2933700"/>
          </a:xfrm>
          <a:prstGeom prst="rect">
            <a:avLst/>
          </a:prstGeom>
          <a:noFill/>
          <a:ln>
            <a:noFill/>
          </a:ln>
        </p:spPr>
      </p:pic>
      <p:sp>
        <p:nvSpPr>
          <p:cNvPr id="6" name="Rectangle 5">
            <a:extLst>
              <a:ext uri="{FF2B5EF4-FFF2-40B4-BE49-F238E27FC236}">
                <a16:creationId xmlns:a16="http://schemas.microsoft.com/office/drawing/2014/main" id="{02ECB036-850C-38E3-04F1-881AE383D2EF}"/>
              </a:ext>
            </a:extLst>
          </p:cNvPr>
          <p:cNvSpPr/>
          <p:nvPr/>
        </p:nvSpPr>
        <p:spPr>
          <a:xfrm>
            <a:off x="555812" y="4141694"/>
            <a:ext cx="5477435" cy="2187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GB">
                <a:solidFill>
                  <a:schemeClr val="tx1"/>
                </a:solidFill>
                <a:latin typeface="Times" panose="02020603050405020304" pitchFamily="18" charset="0"/>
                <a:cs typeface="Times" panose="02020603050405020304" pitchFamily="18" charset="0"/>
              </a:rPr>
              <a:t>The graph shows the BER performance of the MIMO-OFDM system using QPSK, 16-QAM, and 64-QAM. As SNR increases, BER decreases for all modulation techniques. QPSK provides better performance with lower BER, while 64-QAM has higher BER due to noise sensitivity. This shows a trade-off between data rate and error performance.</a:t>
            </a:r>
            <a:endParaRPr lang="en-IN">
              <a:solidFill>
                <a:schemeClr val="tx1"/>
              </a:solidFill>
              <a:latin typeface="Times" panose="02020603050405020304" pitchFamily="18" charset="0"/>
              <a:cs typeface="Times" panose="02020603050405020304" pitchFamily="18" charset="0"/>
            </a:endParaRPr>
          </a:p>
        </p:txBody>
      </p:sp>
      <p:pic>
        <p:nvPicPr>
          <p:cNvPr id="7" name="Picture 6">
            <a:extLst>
              <a:ext uri="{FF2B5EF4-FFF2-40B4-BE49-F238E27FC236}">
                <a16:creationId xmlns:a16="http://schemas.microsoft.com/office/drawing/2014/main" id="{A5A48138-004A-C452-3254-44811F07E6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7416" y="1211423"/>
            <a:ext cx="5290971" cy="2781300"/>
          </a:xfrm>
          <a:prstGeom prst="rect">
            <a:avLst/>
          </a:prstGeom>
          <a:noFill/>
          <a:ln>
            <a:noFill/>
          </a:ln>
        </p:spPr>
      </p:pic>
      <p:sp>
        <p:nvSpPr>
          <p:cNvPr id="9" name="Rectangle 8">
            <a:extLst>
              <a:ext uri="{FF2B5EF4-FFF2-40B4-BE49-F238E27FC236}">
                <a16:creationId xmlns:a16="http://schemas.microsoft.com/office/drawing/2014/main" id="{EE12C5E8-057D-3827-2A70-2BD251DF7FB6}"/>
              </a:ext>
            </a:extLst>
          </p:cNvPr>
          <p:cNvSpPr/>
          <p:nvPr/>
        </p:nvSpPr>
        <p:spPr>
          <a:xfrm>
            <a:off x="6404386" y="4204448"/>
            <a:ext cx="5124002" cy="1900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GB">
                <a:solidFill>
                  <a:schemeClr val="tx1"/>
                </a:solidFill>
                <a:latin typeface="Times" panose="02020603050405020304" pitchFamily="18" charset="0"/>
                <a:cs typeface="Times" panose="02020603050405020304" pitchFamily="18" charset="0"/>
              </a:rPr>
              <a:t>The graph shows the BER performance of convolutional codes using hard and soft Viterbi decoding. Soft Viterbi decoding provides lower BER compared to hard decoding. As SNR increases, BER decreases in both cases. Soft decoding performs better as it uses probability information instead of binary decisions.</a:t>
            </a:r>
            <a:endParaRPr lang="en-IN">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13016641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ADFC91-1CD5-3DEC-1DFD-CE6AD5B287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0082" y="696091"/>
            <a:ext cx="5486624" cy="2943580"/>
          </a:xfrm>
          <a:prstGeom prst="rect">
            <a:avLst/>
          </a:prstGeom>
          <a:noFill/>
          <a:ln>
            <a:noFill/>
          </a:ln>
        </p:spPr>
      </p:pic>
      <p:sp>
        <p:nvSpPr>
          <p:cNvPr id="3" name="Rectangle 2">
            <a:extLst>
              <a:ext uri="{FF2B5EF4-FFF2-40B4-BE49-F238E27FC236}">
                <a16:creationId xmlns:a16="http://schemas.microsoft.com/office/drawing/2014/main" id="{A075CC47-7DC5-9043-F993-4B8B1B6C77D3}"/>
              </a:ext>
            </a:extLst>
          </p:cNvPr>
          <p:cNvSpPr/>
          <p:nvPr/>
        </p:nvSpPr>
        <p:spPr>
          <a:xfrm>
            <a:off x="631788" y="3720353"/>
            <a:ext cx="10676966" cy="1810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GB">
                <a:solidFill>
                  <a:schemeClr val="tx1"/>
                </a:solidFill>
                <a:latin typeface="Times New Roman" panose="02020603050405020304" pitchFamily="18" charset="0"/>
                <a:cs typeface="Times New Roman" panose="02020603050405020304" pitchFamily="18" charset="0"/>
              </a:rPr>
              <a:t>        From the above results, it is observed that system performance improves as SNR increases. Advanced techniques like LDPC and soft Viterbi decoding reduce BER compared to basic methods. However, the existing system still cannot achieve very low BER under all conditions, indicating the need for more efficient coding techniques.</a:t>
            </a:r>
            <a:endParaRPr lang="en-IN">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50CADFD-7296-B9D0-7EA9-612C994696DD}"/>
              </a:ext>
            </a:extLst>
          </p:cNvPr>
          <p:cNvSpPr/>
          <p:nvPr/>
        </p:nvSpPr>
        <p:spPr>
          <a:xfrm>
            <a:off x="5836024" y="887506"/>
            <a:ext cx="5620871" cy="2250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GB">
                <a:solidFill>
                  <a:schemeClr val="tx1"/>
                </a:solidFill>
                <a:latin typeface="Times" panose="02020603050405020304" pitchFamily="18" charset="0"/>
                <a:cs typeface="Times" panose="02020603050405020304" pitchFamily="18" charset="0"/>
              </a:rPr>
              <a:t>The graph shows the BER performance of the system with and without LDPC coding. It is observed that LDPC coding provides lower BER compared to the uncoded system. As SNR increases, BER decreases in both cases. LDPC improves error correction and enhances system reliability, especially at low SNR conditions.</a:t>
            </a:r>
            <a:endParaRPr lang="en-IN">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70835321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E24ED4-5A9C-CFDC-1BBA-F203B69ED7EC}"/>
              </a:ext>
            </a:extLst>
          </p:cNvPr>
          <p:cNvSpPr txBox="1"/>
          <p:nvPr/>
        </p:nvSpPr>
        <p:spPr>
          <a:xfrm>
            <a:off x="582705" y="1019716"/>
            <a:ext cx="6768353" cy="461665"/>
          </a:xfrm>
          <a:prstGeom prst="rect">
            <a:avLst/>
          </a:prstGeom>
          <a:noFill/>
        </p:spPr>
        <p:txBody>
          <a:bodyPr wrap="square">
            <a:spAutoFit/>
          </a:bodyPr>
          <a:lstStyle/>
          <a:p>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DISADVANTAGES OF EXISTING SYSTEM</a:t>
            </a:r>
            <a:endParaRPr lang="en-IN" sz="2400" b="1">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71149CA6-1A65-DE91-E23E-138F86FCA254}"/>
              </a:ext>
            </a:extLst>
          </p:cNvPr>
          <p:cNvSpPr>
            <a:spLocks noChangeArrowheads="1"/>
          </p:cNvSpPr>
          <p:nvPr/>
        </p:nvSpPr>
        <p:spPr bwMode="auto">
          <a:xfrm>
            <a:off x="833718" y="1600136"/>
            <a:ext cx="6266329" cy="4007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 computational complexity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Poor performance at low SNR (high BER)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Higher-order modulation (64-QAM) is noise-sensitive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Hard Viterbi decoding gives lower performance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LDPC does not achieve very low BER in all cases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Increased system complexity due to MIMO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Requires accurate synchronization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Does not reach Shannon limit performance </a:t>
            </a:r>
          </a:p>
        </p:txBody>
      </p:sp>
    </p:spTree>
    <p:extLst>
      <p:ext uri="{BB962C8B-B14F-4D97-AF65-F5344CB8AC3E}">
        <p14:creationId xmlns:p14="http://schemas.microsoft.com/office/powerpoint/2010/main" val="53445012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22F30BD-A4F6-C23E-E16F-C54803DCC8DA}"/>
              </a:ext>
            </a:extLst>
          </p:cNvPr>
          <p:cNvSpPr/>
          <p:nvPr/>
        </p:nvSpPr>
        <p:spPr>
          <a:xfrm>
            <a:off x="557463" y="5213684"/>
            <a:ext cx="10960769" cy="1323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 </a:t>
            </a:r>
            <a:endParaRPr lang="en-IN" sz="1600" dirty="0">
              <a:solidFill>
                <a:schemeClr val="tx1"/>
              </a:solidFill>
            </a:endParaRPr>
          </a:p>
        </p:txBody>
      </p:sp>
      <p:sp>
        <p:nvSpPr>
          <p:cNvPr id="3" name="Rectangle 2">
            <a:extLst>
              <a:ext uri="{FF2B5EF4-FFF2-40B4-BE49-F238E27FC236}">
                <a16:creationId xmlns:a16="http://schemas.microsoft.com/office/drawing/2014/main" id="{6DBBC02D-C359-3896-6D59-628B6D96AA4E}"/>
              </a:ext>
            </a:extLst>
          </p:cNvPr>
          <p:cNvSpPr/>
          <p:nvPr/>
        </p:nvSpPr>
        <p:spPr>
          <a:xfrm>
            <a:off x="1144988" y="1216235"/>
            <a:ext cx="9613127" cy="604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3" name="Rectangle 12">
            <a:extLst>
              <a:ext uri="{FF2B5EF4-FFF2-40B4-BE49-F238E27FC236}">
                <a16:creationId xmlns:a16="http://schemas.microsoft.com/office/drawing/2014/main" id="{F2280B70-6AC7-5B0B-2453-93A2BA7F238B}"/>
              </a:ext>
            </a:extLst>
          </p:cNvPr>
          <p:cNvSpPr/>
          <p:nvPr/>
        </p:nvSpPr>
        <p:spPr>
          <a:xfrm>
            <a:off x="501804" y="2246043"/>
            <a:ext cx="6702078" cy="4528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endParaRPr lang="en-GB" dirty="0"/>
          </a:p>
        </p:txBody>
      </p:sp>
      <p:sp>
        <p:nvSpPr>
          <p:cNvPr id="16" name="TextBox 15">
            <a:extLst>
              <a:ext uri="{FF2B5EF4-FFF2-40B4-BE49-F238E27FC236}">
                <a16:creationId xmlns:a16="http://schemas.microsoft.com/office/drawing/2014/main" id="{61FA0676-FF87-9B16-538E-9F19E8864437}"/>
              </a:ext>
            </a:extLst>
          </p:cNvPr>
          <p:cNvSpPr txBox="1"/>
          <p:nvPr/>
        </p:nvSpPr>
        <p:spPr>
          <a:xfrm>
            <a:off x="481785" y="1470395"/>
            <a:ext cx="6116020" cy="4401205"/>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The proposed system integrates MIMO-OFDM technology with advanced channel coding techniques such as </a:t>
            </a:r>
            <a:r>
              <a:rPr lang="en-GB" sz="2000" b="1">
                <a:latin typeface="Times New Roman" panose="02020603050405020304" pitchFamily="18" charset="0"/>
                <a:cs typeface="Times New Roman" panose="02020603050405020304" pitchFamily="18" charset="0"/>
              </a:rPr>
              <a:t>Convolutional, Turbo, LDPC, and Polar codes</a:t>
            </a:r>
            <a:r>
              <a:rPr lang="en-GB" sz="2000">
                <a:latin typeface="Times New Roman" panose="02020603050405020304" pitchFamily="18" charset="0"/>
                <a:cs typeface="Times New Roman" panose="02020603050405020304" pitchFamily="18" charset="0"/>
              </a:rPr>
              <a:t> to improve communication performance. It is designed to achieve </a:t>
            </a:r>
            <a:r>
              <a:rPr lang="en-GB" sz="2000" b="1">
                <a:latin typeface="Times New Roman" panose="02020603050405020304" pitchFamily="18" charset="0"/>
                <a:cs typeface="Times New Roman" panose="02020603050405020304" pitchFamily="18" charset="0"/>
              </a:rPr>
              <a:t>low Bit Error Rate (BER)</a:t>
            </a:r>
            <a:r>
              <a:rPr lang="en-GB" sz="2000">
                <a:latin typeface="Times New Roman" panose="02020603050405020304" pitchFamily="18" charset="0"/>
                <a:cs typeface="Times New Roman" panose="02020603050405020304" pitchFamily="18" charset="0"/>
              </a:rPr>
              <a:t>, </a:t>
            </a:r>
            <a:r>
              <a:rPr lang="en-GB" sz="2000" b="1">
                <a:latin typeface="Times New Roman" panose="02020603050405020304" pitchFamily="18" charset="0"/>
                <a:cs typeface="Times New Roman" panose="02020603050405020304" pitchFamily="18" charset="0"/>
              </a:rPr>
              <a:t>high spectral efficiency</a:t>
            </a:r>
            <a:r>
              <a:rPr lang="en-GB" sz="2000">
                <a:latin typeface="Times New Roman" panose="02020603050405020304" pitchFamily="18" charset="0"/>
                <a:cs typeface="Times New Roman" panose="02020603050405020304" pitchFamily="18" charset="0"/>
              </a:rPr>
              <a:t>, and </a:t>
            </a:r>
            <a:r>
              <a:rPr lang="en-GB" sz="2000" b="1">
                <a:latin typeface="Times New Roman" panose="02020603050405020304" pitchFamily="18" charset="0"/>
                <a:cs typeface="Times New Roman" panose="02020603050405020304" pitchFamily="18" charset="0"/>
              </a:rPr>
              <a:t>low latency</a:t>
            </a:r>
            <a:r>
              <a:rPr lang="en-GB" sz="2000">
                <a:latin typeface="Times New Roman" panose="02020603050405020304" pitchFamily="18" charset="0"/>
                <a:cs typeface="Times New Roman" panose="02020603050405020304" pitchFamily="18" charset="0"/>
              </a:rPr>
              <a:t>, which are essential for </a:t>
            </a:r>
            <a:r>
              <a:rPr lang="en-GB" sz="2000" b="1">
                <a:latin typeface="Times New Roman" panose="02020603050405020304" pitchFamily="18" charset="0"/>
                <a:cs typeface="Times New Roman" panose="02020603050405020304" pitchFamily="18" charset="0"/>
              </a:rPr>
              <a:t>5G and 6G systems</a:t>
            </a:r>
            <a:r>
              <a:rPr lang="en-GB" sz="2000">
                <a:latin typeface="Times New Roman" panose="02020603050405020304" pitchFamily="18" charset="0"/>
                <a:cs typeface="Times New Roman" panose="02020603050405020304" pitchFamily="18" charset="0"/>
              </a:rPr>
              <a:t>. The system starts with random binary data, which is encoded, interleaved, and modulated using </a:t>
            </a:r>
            <a:r>
              <a:rPr lang="en-GB" sz="2000" b="1">
                <a:latin typeface="Times New Roman" panose="02020603050405020304" pitchFamily="18" charset="0"/>
                <a:cs typeface="Times New Roman" panose="02020603050405020304" pitchFamily="18" charset="0"/>
              </a:rPr>
              <a:t>QPSK/QAM</a:t>
            </a:r>
            <a:r>
              <a:rPr lang="en-GB" sz="2000">
                <a:latin typeface="Times New Roman" panose="02020603050405020304" pitchFamily="18" charset="0"/>
                <a:cs typeface="Times New Roman" panose="02020603050405020304" pitchFamily="18" charset="0"/>
              </a:rPr>
              <a:t>, and then transmitted through a MIMO-OFDM system over an </a:t>
            </a:r>
            <a:r>
              <a:rPr lang="en-GB" sz="2000" b="1">
                <a:latin typeface="Times New Roman" panose="02020603050405020304" pitchFamily="18" charset="0"/>
                <a:cs typeface="Times New Roman" panose="02020603050405020304" pitchFamily="18" charset="0"/>
              </a:rPr>
              <a:t>AWGN channel</a:t>
            </a:r>
            <a:r>
              <a:rPr lang="en-GB" sz="2000">
                <a:latin typeface="Times New Roman" panose="02020603050405020304" pitchFamily="18" charset="0"/>
                <a:cs typeface="Times New Roman" panose="02020603050405020304" pitchFamily="18" charset="0"/>
              </a:rPr>
              <a:t>. At the receiver, </a:t>
            </a:r>
            <a:r>
              <a:rPr lang="en-GB" sz="2000" b="1">
                <a:latin typeface="Times New Roman" panose="02020603050405020304" pitchFamily="18" charset="0"/>
                <a:cs typeface="Times New Roman" panose="02020603050405020304" pitchFamily="18" charset="0"/>
              </a:rPr>
              <a:t>soft detection</a:t>
            </a:r>
            <a:r>
              <a:rPr lang="en-GB" sz="2000">
                <a:latin typeface="Times New Roman" panose="02020603050405020304" pitchFamily="18" charset="0"/>
                <a:cs typeface="Times New Roman" panose="02020603050405020304" pitchFamily="18" charset="0"/>
              </a:rPr>
              <a:t>, </a:t>
            </a:r>
            <a:r>
              <a:rPr lang="en-GB" sz="2000" b="1">
                <a:latin typeface="Times New Roman" panose="02020603050405020304" pitchFamily="18" charset="0"/>
                <a:cs typeface="Times New Roman" panose="02020603050405020304" pitchFamily="18" charset="0"/>
              </a:rPr>
              <a:t>deinterleaving</a:t>
            </a:r>
            <a:r>
              <a:rPr lang="en-GB" sz="2000">
                <a:latin typeface="Times New Roman" panose="02020603050405020304" pitchFamily="18" charset="0"/>
                <a:cs typeface="Times New Roman" panose="02020603050405020304" pitchFamily="18" charset="0"/>
              </a:rPr>
              <a:t>, and </a:t>
            </a:r>
            <a:r>
              <a:rPr lang="en-GB" sz="2000" b="1">
                <a:latin typeface="Times New Roman" panose="02020603050405020304" pitchFamily="18" charset="0"/>
                <a:cs typeface="Times New Roman" panose="02020603050405020304" pitchFamily="18" charset="0"/>
              </a:rPr>
              <a:t>decoding</a:t>
            </a:r>
            <a:r>
              <a:rPr lang="en-GB" sz="2000">
                <a:latin typeface="Times New Roman" panose="02020603050405020304" pitchFamily="18" charset="0"/>
                <a:cs typeface="Times New Roman" panose="02020603050405020304" pitchFamily="18" charset="0"/>
              </a:rPr>
              <a:t> are performed to recover the original data. Finally, </a:t>
            </a:r>
            <a:r>
              <a:rPr lang="en-GB" sz="2000" b="1">
                <a:latin typeface="Times New Roman" panose="02020603050405020304" pitchFamily="18" charset="0"/>
                <a:cs typeface="Times New Roman" panose="02020603050405020304" pitchFamily="18" charset="0"/>
              </a:rPr>
              <a:t>BER </a:t>
            </a:r>
            <a:r>
              <a:rPr lang="en-GB" sz="2000">
                <a:latin typeface="Times New Roman" panose="02020603050405020304" pitchFamily="18" charset="0"/>
                <a:cs typeface="Times New Roman" panose="02020603050405020304" pitchFamily="18" charset="0"/>
              </a:rPr>
              <a:t>is calculated and compared for different coding techniques to determine the most efficient method.</a:t>
            </a:r>
            <a:endParaRPr lang="en-IN" sz="200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61718A92-B806-5A83-6FC4-A80FE1C111B5}"/>
              </a:ext>
            </a:extLst>
          </p:cNvPr>
          <p:cNvSpPr txBox="1"/>
          <p:nvPr/>
        </p:nvSpPr>
        <p:spPr>
          <a:xfrm>
            <a:off x="501804" y="439860"/>
            <a:ext cx="6096000" cy="701731"/>
          </a:xfrm>
          <a:prstGeom prst="rect">
            <a:avLst/>
          </a:prstGeom>
          <a:noFill/>
        </p:spPr>
        <p:txBody>
          <a:bodyPr wrap="square">
            <a:spAutoFit/>
          </a:bodyPr>
          <a:lstStyle/>
          <a:p>
            <a:pPr defTabSz="914400">
              <a:lnSpc>
                <a:spcPct val="90000"/>
              </a:lnSpc>
              <a:spcBef>
                <a:spcPct val="0"/>
              </a:spcBef>
            </a:pPr>
            <a:r>
              <a:rPr lang="en-GB" sz="4400">
                <a:latin typeface="Times New Roman" panose="02020603050405020304" pitchFamily="18" charset="0"/>
                <a:ea typeface="+mj-ea"/>
                <a:cs typeface="Times New Roman" panose="02020603050405020304" pitchFamily="18" charset="0"/>
              </a:rPr>
              <a:t>Proposed Method:</a:t>
            </a:r>
            <a:endParaRPr lang="en-IN" sz="4400">
              <a:latin typeface="Times New Roman" panose="02020603050405020304" pitchFamily="18" charset="0"/>
              <a:ea typeface="+mj-ea"/>
              <a:cs typeface="Times New Roman" panose="02020603050405020304" pitchFamily="18" charset="0"/>
            </a:endParaRPr>
          </a:p>
        </p:txBody>
      </p:sp>
      <p:pic>
        <p:nvPicPr>
          <p:cNvPr id="9" name="Picture 8">
            <a:extLst>
              <a:ext uri="{FF2B5EF4-FFF2-40B4-BE49-F238E27FC236}">
                <a16:creationId xmlns:a16="http://schemas.microsoft.com/office/drawing/2014/main" id="{D497C6A3-E532-B1F5-A541-8043F057DC34}"/>
              </a:ext>
            </a:extLst>
          </p:cNvPr>
          <p:cNvPicPr>
            <a:picLocks noChangeAspect="1"/>
          </p:cNvPicPr>
          <p:nvPr/>
        </p:nvPicPr>
        <p:blipFill>
          <a:blip r:embed="rId2"/>
          <a:stretch>
            <a:fillRect/>
          </a:stretch>
        </p:blipFill>
        <p:spPr>
          <a:xfrm>
            <a:off x="7037294" y="1216236"/>
            <a:ext cx="4371036" cy="3821232"/>
          </a:xfrm>
          <a:prstGeom prst="rect">
            <a:avLst/>
          </a:prstGeom>
        </p:spPr>
      </p:pic>
      <p:sp>
        <p:nvSpPr>
          <p:cNvPr id="12" name="TextBox 11">
            <a:extLst>
              <a:ext uri="{FF2B5EF4-FFF2-40B4-BE49-F238E27FC236}">
                <a16:creationId xmlns:a16="http://schemas.microsoft.com/office/drawing/2014/main" id="{80C2E2DD-F7E6-278F-C286-4A639D372D20}"/>
              </a:ext>
            </a:extLst>
          </p:cNvPr>
          <p:cNvSpPr txBox="1"/>
          <p:nvPr/>
        </p:nvSpPr>
        <p:spPr>
          <a:xfrm>
            <a:off x="7050220" y="5213684"/>
            <a:ext cx="4659995" cy="369332"/>
          </a:xfrm>
          <a:prstGeom prst="rect">
            <a:avLst/>
          </a:prstGeom>
          <a:noFill/>
        </p:spPr>
        <p:txBody>
          <a:bodyPr wrap="square">
            <a:spAutoFit/>
          </a:bodyPr>
          <a:lstStyle/>
          <a:p>
            <a:r>
              <a:rPr lang="en-US" sz="1800" b="1">
                <a:effectLst/>
                <a:latin typeface="Times New Roman" panose="02020603050405020304" pitchFamily="18" charset="0"/>
                <a:ea typeface="Times New Roman" panose="02020603050405020304" pitchFamily="18" charset="0"/>
              </a:rPr>
              <a:t>Figure  : Flow Chart of Proposed Method</a:t>
            </a:r>
            <a:endParaRPr lang="en-IN"/>
          </a:p>
        </p:txBody>
      </p:sp>
    </p:spTree>
    <p:extLst>
      <p:ext uri="{BB962C8B-B14F-4D97-AF65-F5344CB8AC3E}">
        <p14:creationId xmlns:p14="http://schemas.microsoft.com/office/powerpoint/2010/main" val="275745423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F4C644-B509-613E-E35B-FFC149984A3F}"/>
              </a:ext>
            </a:extLst>
          </p:cNvPr>
          <p:cNvSpPr/>
          <p:nvPr/>
        </p:nvSpPr>
        <p:spPr>
          <a:xfrm>
            <a:off x="123825" y="476250"/>
            <a:ext cx="7924800" cy="6191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0637E38A-D7FD-C049-E517-2215E2F0C969}"/>
              </a:ext>
            </a:extLst>
          </p:cNvPr>
          <p:cNvSpPr txBox="1"/>
          <p:nvPr/>
        </p:nvSpPr>
        <p:spPr>
          <a:xfrm>
            <a:off x="941295" y="604682"/>
            <a:ext cx="10515600" cy="923330"/>
          </a:xfrm>
          <a:prstGeom prst="rect">
            <a:avLst/>
          </a:prstGeom>
          <a:noFill/>
        </p:spPr>
        <p:txBody>
          <a:bodyPr wrap="square">
            <a:spAutoFit/>
          </a:bodyPr>
          <a:lstStyle/>
          <a:p>
            <a:pPr algn="ctr"/>
            <a:r>
              <a:rPr lang="en-US" sz="3600">
                <a:latin typeface="Times New Roman" panose="02020603050405020304" pitchFamily="18" charset="0"/>
                <a:cs typeface="Times New Roman" panose="02020603050405020304" pitchFamily="18" charset="0"/>
              </a:rPr>
              <a:t>Hardware &amp; Software Requirements</a:t>
            </a:r>
            <a:br>
              <a:rPr lang="en-US" altLang="en-US" sz="1800">
                <a:latin typeface="Times New Roman" panose="02020603050405020304" pitchFamily="18" charset="0"/>
                <a:cs typeface="Times New Roman" panose="02020603050405020304" pitchFamily="18" charset="0"/>
              </a:rPr>
            </a:br>
            <a:endParaRPr lang="en-IN"/>
          </a:p>
        </p:txBody>
      </p:sp>
      <p:sp>
        <p:nvSpPr>
          <p:cNvPr id="10" name="TextBox 9">
            <a:extLst>
              <a:ext uri="{FF2B5EF4-FFF2-40B4-BE49-F238E27FC236}">
                <a16:creationId xmlns:a16="http://schemas.microsoft.com/office/drawing/2014/main" id="{7A502461-2BB7-2F86-BCCC-9D8C94136062}"/>
              </a:ext>
            </a:extLst>
          </p:cNvPr>
          <p:cNvSpPr txBox="1"/>
          <p:nvPr/>
        </p:nvSpPr>
        <p:spPr>
          <a:xfrm>
            <a:off x="1038225" y="1539380"/>
            <a:ext cx="6096000" cy="1889620"/>
          </a:xfrm>
          <a:prstGeom prst="rect">
            <a:avLst/>
          </a:prstGeom>
          <a:noFill/>
        </p:spPr>
        <p:txBody>
          <a:bodyPr wrap="square">
            <a:spAutoFit/>
          </a:bodyPr>
          <a:lstStyle/>
          <a:p>
            <a:pPr marL="0" marR="0" indent="0" algn="just">
              <a:lnSpc>
                <a:spcPct val="150000"/>
              </a:lnSpc>
              <a:spcBef>
                <a:spcPts val="0"/>
              </a:spcBef>
              <a:spcAft>
                <a:spcPts val="0"/>
              </a:spcAft>
              <a:buNone/>
            </a:pPr>
            <a:r>
              <a:rPr lang="en-US" sz="20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Software: </a:t>
            </a:r>
            <a:r>
              <a:rPr lang="en-US"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Matlab R2022b</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20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Hardware:</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20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Operating Systems: </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Windows 10 </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1E0A05DD-2FCA-F774-32A8-3CC3BC7F7CFD}"/>
              </a:ext>
            </a:extLst>
          </p:cNvPr>
          <p:cNvSpPr txBox="1"/>
          <p:nvPr/>
        </p:nvSpPr>
        <p:spPr>
          <a:xfrm>
            <a:off x="1038225" y="4029549"/>
            <a:ext cx="6096000" cy="1289071"/>
          </a:xfrm>
          <a:prstGeom prst="rect">
            <a:avLst/>
          </a:prstGeom>
          <a:noFill/>
        </p:spPr>
        <p:txBody>
          <a:bodyPr wrap="square">
            <a:spAutoFit/>
          </a:bodyPr>
          <a:lstStyle/>
          <a:p>
            <a:pPr marL="0" marR="0" indent="0" algn="just">
              <a:lnSpc>
                <a:spcPct val="150000"/>
              </a:lnSpc>
              <a:spcBef>
                <a:spcPts val="0"/>
              </a:spcBef>
              <a:spcAft>
                <a:spcPts val="0"/>
              </a:spcAft>
              <a:buNone/>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RAM:</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Minimum: 4 GB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50000"/>
              </a:lnSpc>
              <a:spcBef>
                <a:spcPts val="0"/>
              </a:spcBef>
              <a:spcAft>
                <a:spcPts val="0"/>
              </a:spcAft>
              <a:buNone/>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Recommended: 8 GB</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23844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07045B-D1DA-B17D-0D50-64B34608AE7D}"/>
              </a:ext>
            </a:extLst>
          </p:cNvPr>
          <p:cNvSpPr/>
          <p:nvPr/>
        </p:nvSpPr>
        <p:spPr>
          <a:xfrm>
            <a:off x="618565" y="1640541"/>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Random Binary Data Source</a:t>
            </a:r>
          </a:p>
        </p:txBody>
      </p:sp>
      <p:sp>
        <p:nvSpPr>
          <p:cNvPr id="3" name="Rectangle 2">
            <a:extLst>
              <a:ext uri="{FF2B5EF4-FFF2-40B4-BE49-F238E27FC236}">
                <a16:creationId xmlns:a16="http://schemas.microsoft.com/office/drawing/2014/main" id="{95EB7DF0-8195-81D2-166A-7E9EC9921214}"/>
              </a:ext>
            </a:extLst>
          </p:cNvPr>
          <p:cNvSpPr/>
          <p:nvPr/>
        </p:nvSpPr>
        <p:spPr>
          <a:xfrm>
            <a:off x="3532095" y="1640541"/>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Channel Encoder (Conv / Turbo / LDPC / Polar)</a:t>
            </a:r>
          </a:p>
        </p:txBody>
      </p:sp>
      <p:sp>
        <p:nvSpPr>
          <p:cNvPr id="4" name="Rectangle 3">
            <a:extLst>
              <a:ext uri="{FF2B5EF4-FFF2-40B4-BE49-F238E27FC236}">
                <a16:creationId xmlns:a16="http://schemas.microsoft.com/office/drawing/2014/main" id="{B9365964-AB57-BE40-D211-2757A1B6A92D}"/>
              </a:ext>
            </a:extLst>
          </p:cNvPr>
          <p:cNvSpPr/>
          <p:nvPr/>
        </p:nvSpPr>
        <p:spPr>
          <a:xfrm>
            <a:off x="9601200" y="3603814"/>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AWGN Channel (Noise Addition)</a:t>
            </a:r>
            <a:endParaRPr lang="en-IN"/>
          </a:p>
        </p:txBody>
      </p:sp>
      <p:sp>
        <p:nvSpPr>
          <p:cNvPr id="5" name="Rectangle 4">
            <a:extLst>
              <a:ext uri="{FF2B5EF4-FFF2-40B4-BE49-F238E27FC236}">
                <a16:creationId xmlns:a16="http://schemas.microsoft.com/office/drawing/2014/main" id="{52B3D16F-0D4B-D5B7-A046-1D85C709D717}"/>
              </a:ext>
            </a:extLst>
          </p:cNvPr>
          <p:cNvSpPr/>
          <p:nvPr/>
        </p:nvSpPr>
        <p:spPr>
          <a:xfrm>
            <a:off x="6535270" y="3603814"/>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Demodulator</a:t>
            </a:r>
          </a:p>
        </p:txBody>
      </p:sp>
      <p:sp>
        <p:nvSpPr>
          <p:cNvPr id="6" name="Rectangle 5">
            <a:extLst>
              <a:ext uri="{FF2B5EF4-FFF2-40B4-BE49-F238E27FC236}">
                <a16:creationId xmlns:a16="http://schemas.microsoft.com/office/drawing/2014/main" id="{0307738B-5D73-428A-4BDE-1CC8D669FFA3}"/>
              </a:ext>
            </a:extLst>
          </p:cNvPr>
          <p:cNvSpPr/>
          <p:nvPr/>
        </p:nvSpPr>
        <p:spPr>
          <a:xfrm>
            <a:off x="6508378" y="1640541"/>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Modulator (QPSK / QAM)</a:t>
            </a:r>
          </a:p>
        </p:txBody>
      </p:sp>
      <p:sp>
        <p:nvSpPr>
          <p:cNvPr id="7" name="Rectangle 6">
            <a:extLst>
              <a:ext uri="{FF2B5EF4-FFF2-40B4-BE49-F238E27FC236}">
                <a16:creationId xmlns:a16="http://schemas.microsoft.com/office/drawing/2014/main" id="{7150D513-253C-D083-67B1-C44D4BB9BD4E}"/>
              </a:ext>
            </a:extLst>
          </p:cNvPr>
          <p:cNvSpPr/>
          <p:nvPr/>
        </p:nvSpPr>
        <p:spPr>
          <a:xfrm>
            <a:off x="9601200" y="1640541"/>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MIMO-OFDM System</a:t>
            </a:r>
          </a:p>
        </p:txBody>
      </p:sp>
      <p:sp>
        <p:nvSpPr>
          <p:cNvPr id="8" name="Rectangle 7">
            <a:extLst>
              <a:ext uri="{FF2B5EF4-FFF2-40B4-BE49-F238E27FC236}">
                <a16:creationId xmlns:a16="http://schemas.microsoft.com/office/drawing/2014/main" id="{720DE414-1F6C-1B5E-B742-92BBFB684C49}"/>
              </a:ext>
            </a:extLst>
          </p:cNvPr>
          <p:cNvSpPr/>
          <p:nvPr/>
        </p:nvSpPr>
        <p:spPr>
          <a:xfrm>
            <a:off x="3469340" y="3603816"/>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a:solidFill>
                  <a:schemeClr val="tx1"/>
                </a:solidFill>
                <a:latin typeface="Times New Roman" panose="02020603050405020304" pitchFamily="18" charset="0"/>
                <a:cs typeface="Times New Roman" panose="02020603050405020304" pitchFamily="18" charset="0"/>
              </a:rPr>
              <a:t>Channel Decoder (Conv / Turbo / LDPC / Polar)</a:t>
            </a:r>
            <a:endParaRPr lang="en-IN" sz="200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6FC74F6A-175B-1F92-A8FF-ED4F4CA51A56}"/>
              </a:ext>
            </a:extLst>
          </p:cNvPr>
          <p:cNvSpPr/>
          <p:nvPr/>
        </p:nvSpPr>
        <p:spPr>
          <a:xfrm>
            <a:off x="645457" y="3603814"/>
            <a:ext cx="2088776" cy="107576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chemeClr val="tx1"/>
                </a:solidFill>
                <a:latin typeface="Times New Roman" panose="02020603050405020304" pitchFamily="18" charset="0"/>
                <a:cs typeface="Times New Roman" panose="02020603050405020304" pitchFamily="18" charset="0"/>
              </a:rPr>
              <a:t>BER Calculation (Error Analysis)</a:t>
            </a:r>
          </a:p>
        </p:txBody>
      </p:sp>
      <p:cxnSp>
        <p:nvCxnSpPr>
          <p:cNvPr id="13" name="Straight Arrow Connector 12">
            <a:extLst>
              <a:ext uri="{FF2B5EF4-FFF2-40B4-BE49-F238E27FC236}">
                <a16:creationId xmlns:a16="http://schemas.microsoft.com/office/drawing/2014/main" id="{72524964-4321-26EE-41D7-30326275CBC3}"/>
              </a:ext>
            </a:extLst>
          </p:cNvPr>
          <p:cNvCxnSpPr>
            <a:stCxn id="2" idx="3"/>
            <a:endCxn id="3" idx="1"/>
          </p:cNvCxnSpPr>
          <p:nvPr/>
        </p:nvCxnSpPr>
        <p:spPr>
          <a:xfrm>
            <a:off x="2707341" y="2178423"/>
            <a:ext cx="82475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1E2D4D0A-7DF8-2DD5-3336-25F14615145D}"/>
              </a:ext>
            </a:extLst>
          </p:cNvPr>
          <p:cNvCxnSpPr>
            <a:stCxn id="3" idx="3"/>
            <a:endCxn id="6" idx="1"/>
          </p:cNvCxnSpPr>
          <p:nvPr/>
        </p:nvCxnSpPr>
        <p:spPr>
          <a:xfrm>
            <a:off x="5620871" y="2178423"/>
            <a:ext cx="88750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6D4929E-AB7D-50D7-1F33-64FF5DE5C63D}"/>
              </a:ext>
            </a:extLst>
          </p:cNvPr>
          <p:cNvCxnSpPr>
            <a:stCxn id="6" idx="3"/>
            <a:endCxn id="7" idx="1"/>
          </p:cNvCxnSpPr>
          <p:nvPr/>
        </p:nvCxnSpPr>
        <p:spPr>
          <a:xfrm>
            <a:off x="8597154" y="2178423"/>
            <a:ext cx="100404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E3D6880A-637F-581C-B5B7-7F532BBA2C2F}"/>
              </a:ext>
            </a:extLst>
          </p:cNvPr>
          <p:cNvCxnSpPr>
            <a:stCxn id="7" idx="2"/>
            <a:endCxn id="4" idx="0"/>
          </p:cNvCxnSpPr>
          <p:nvPr/>
        </p:nvCxnSpPr>
        <p:spPr>
          <a:xfrm>
            <a:off x="10645588" y="2716305"/>
            <a:ext cx="0" cy="88750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6491F1D-EDC5-A8B8-7813-9AB35CF1D592}"/>
              </a:ext>
            </a:extLst>
          </p:cNvPr>
          <p:cNvCxnSpPr>
            <a:stCxn id="4" idx="1"/>
            <a:endCxn id="5" idx="3"/>
          </p:cNvCxnSpPr>
          <p:nvPr/>
        </p:nvCxnSpPr>
        <p:spPr>
          <a:xfrm flipH="1">
            <a:off x="8624046" y="4141696"/>
            <a:ext cx="97715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D1A9C87-D2A8-79F4-3231-1985CF55E81B}"/>
              </a:ext>
            </a:extLst>
          </p:cNvPr>
          <p:cNvCxnSpPr>
            <a:stCxn id="5" idx="1"/>
            <a:endCxn id="8" idx="3"/>
          </p:cNvCxnSpPr>
          <p:nvPr/>
        </p:nvCxnSpPr>
        <p:spPr>
          <a:xfrm flipH="1">
            <a:off x="5558116" y="4141696"/>
            <a:ext cx="977154"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F74B3801-26E1-2FC0-B872-07C32E19D1BE}"/>
              </a:ext>
            </a:extLst>
          </p:cNvPr>
          <p:cNvCxnSpPr>
            <a:stCxn id="8" idx="1"/>
            <a:endCxn id="11" idx="3"/>
          </p:cNvCxnSpPr>
          <p:nvPr/>
        </p:nvCxnSpPr>
        <p:spPr>
          <a:xfrm flipH="1" flipV="1">
            <a:off x="2734233" y="4141696"/>
            <a:ext cx="735107"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F5040252-2B2A-86BC-4BDA-76D35A4B60AD}"/>
              </a:ext>
            </a:extLst>
          </p:cNvPr>
          <p:cNvSpPr/>
          <p:nvPr/>
        </p:nvSpPr>
        <p:spPr>
          <a:xfrm>
            <a:off x="0" y="663388"/>
            <a:ext cx="4087906" cy="6544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a:solidFill>
                  <a:schemeClr val="tx1"/>
                </a:solidFill>
                <a:latin typeface="Times New Roman" panose="02020603050405020304" pitchFamily="18" charset="0"/>
                <a:cs typeface="Times New Roman" panose="02020603050405020304" pitchFamily="18" charset="0"/>
              </a:rPr>
              <a:t>Block Diagram:</a:t>
            </a:r>
            <a:endParaRPr lang="en-IN" sz="360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0934098-89E4-6592-A536-045028690C2C}"/>
              </a:ext>
            </a:extLst>
          </p:cNvPr>
          <p:cNvSpPr/>
          <p:nvPr/>
        </p:nvSpPr>
        <p:spPr>
          <a:xfrm>
            <a:off x="2734233" y="4908173"/>
            <a:ext cx="6293222" cy="6185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latin typeface="Times New Roman" panose="02020603050405020304" pitchFamily="18" charset="0"/>
                <a:cs typeface="Times New Roman" panose="02020603050405020304" pitchFamily="18" charset="0"/>
              </a:rPr>
              <a:t>Fig : Block Diagram of Proposed System </a:t>
            </a:r>
            <a:endParaRPr lang="en-IN" sz="20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22906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2FEB3A-C06A-2613-2B16-ED2811EE88F6}"/>
              </a:ext>
            </a:extLst>
          </p:cNvPr>
          <p:cNvSpPr txBox="1"/>
          <p:nvPr/>
        </p:nvSpPr>
        <p:spPr>
          <a:xfrm>
            <a:off x="735105" y="588420"/>
            <a:ext cx="5925671" cy="646331"/>
          </a:xfrm>
          <a:prstGeom prst="rect">
            <a:avLst/>
          </a:prstGeom>
          <a:noFill/>
        </p:spPr>
        <p:txBody>
          <a:bodyPr wrap="square">
            <a:spAutoFit/>
          </a:bodyPr>
          <a:lstStyle/>
          <a:p>
            <a:r>
              <a:rPr lang="en-IN" sz="3600">
                <a:latin typeface="Times New Roman" panose="02020603050405020304" pitchFamily="18" charset="0"/>
                <a:cs typeface="Times New Roman" panose="02020603050405020304" pitchFamily="18" charset="0"/>
              </a:rPr>
              <a:t>METHODOLOGY</a:t>
            </a:r>
          </a:p>
        </p:txBody>
      </p:sp>
      <p:sp>
        <p:nvSpPr>
          <p:cNvPr id="7" name="Rectangle 2">
            <a:extLst>
              <a:ext uri="{FF2B5EF4-FFF2-40B4-BE49-F238E27FC236}">
                <a16:creationId xmlns:a16="http://schemas.microsoft.com/office/drawing/2014/main" id="{D9B80D2D-235D-6CD5-9EF6-AAEDCBDD2DA4}"/>
              </a:ext>
            </a:extLst>
          </p:cNvPr>
          <p:cNvSpPr>
            <a:spLocks noChangeArrowheads="1"/>
          </p:cNvSpPr>
          <p:nvPr/>
        </p:nvSpPr>
        <p:spPr bwMode="auto">
          <a:xfrm>
            <a:off x="672352" y="1234751"/>
            <a:ext cx="1050663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proposed system is implemented using MATLAB simulation to evaluate the performance of different channel coding techniques.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methodology consists of the following steps: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Generate random binary input data</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Apply channel coding techniques:</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200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Modulate the encoded data using QPSK / QAM</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Transmit the signal through a noisy channel (AWGN)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Demodulate the received signal</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Decode the signal using respective decoding algorithms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Calculate Bit Error Rate (BER)</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Plot BER vs SNR graph for comparison</a:t>
            </a:r>
          </a:p>
        </p:txBody>
      </p:sp>
      <p:sp>
        <p:nvSpPr>
          <p:cNvPr id="10" name="Rectangle 3">
            <a:extLst>
              <a:ext uri="{FF2B5EF4-FFF2-40B4-BE49-F238E27FC236}">
                <a16:creationId xmlns:a16="http://schemas.microsoft.com/office/drawing/2014/main" id="{164D4501-4A09-74AB-2304-7C145941A218}"/>
              </a:ext>
            </a:extLst>
          </p:cNvPr>
          <p:cNvSpPr>
            <a:spLocks noChangeArrowheads="1"/>
          </p:cNvSpPr>
          <p:nvPr/>
        </p:nvSpPr>
        <p:spPr bwMode="auto">
          <a:xfrm>
            <a:off x="1371599" y="2516722"/>
            <a:ext cx="442856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Convolutional Coding </a:t>
            </a:r>
          </a:p>
          <a:p>
            <a:pPr marL="285750" indent="-285750" defTabSz="9144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LDPC Coding </a:t>
            </a:r>
          </a:p>
          <a:p>
            <a:pPr marL="285750" indent="-285750" defTabSz="9144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Turbo Coding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Polar Coding </a:t>
            </a:r>
          </a:p>
        </p:txBody>
      </p:sp>
    </p:spTree>
    <p:extLst>
      <p:ext uri="{BB962C8B-B14F-4D97-AF65-F5344CB8AC3E}">
        <p14:creationId xmlns:p14="http://schemas.microsoft.com/office/powerpoint/2010/main" val="8004944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0FC9B6-5587-7DBD-B1A7-3B7CEFAD70AE}"/>
              </a:ext>
            </a:extLst>
          </p:cNvPr>
          <p:cNvSpPr/>
          <p:nvPr/>
        </p:nvSpPr>
        <p:spPr>
          <a:xfrm>
            <a:off x="654422" y="1602440"/>
            <a:ext cx="10954872" cy="1030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GB" sz="2000">
                <a:solidFill>
                  <a:schemeClr val="tx1"/>
                </a:solidFill>
                <a:latin typeface="Times New Roman" panose="02020603050405020304" pitchFamily="18" charset="0"/>
                <a:cs typeface="Times New Roman" panose="02020603050405020304" pitchFamily="18" charset="0"/>
              </a:rPr>
              <a:t>       Convolutional codes are widely used error-correcting codes in communication systems, where the output depends on both present and past input bits. They use shift registers and generator polynomials to add redundancy, enabling error detection and correction. </a:t>
            </a:r>
            <a:endParaRPr lang="en-IN" sz="200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E5645F5-2078-6CC5-E583-D3F49A67B0D5}"/>
              </a:ext>
            </a:extLst>
          </p:cNvPr>
          <p:cNvSpPr/>
          <p:nvPr/>
        </p:nvSpPr>
        <p:spPr>
          <a:xfrm>
            <a:off x="242048" y="571847"/>
            <a:ext cx="6454588" cy="385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a:solidFill>
                  <a:schemeClr val="tx1"/>
                </a:solidFill>
                <a:latin typeface="Times New Roman" panose="02020603050405020304" pitchFamily="18" charset="0"/>
                <a:cs typeface="Times New Roman" panose="02020603050405020304" pitchFamily="18" charset="0"/>
              </a:rPr>
              <a:t>Channel Coding Techniques</a:t>
            </a:r>
          </a:p>
        </p:txBody>
      </p:sp>
      <p:sp>
        <p:nvSpPr>
          <p:cNvPr id="9" name="Rectangle 8">
            <a:extLst>
              <a:ext uri="{FF2B5EF4-FFF2-40B4-BE49-F238E27FC236}">
                <a16:creationId xmlns:a16="http://schemas.microsoft.com/office/drawing/2014/main" id="{F99D56F8-9165-8664-F000-C95E9CA50359}"/>
              </a:ext>
            </a:extLst>
          </p:cNvPr>
          <p:cNvSpPr/>
          <p:nvPr/>
        </p:nvSpPr>
        <p:spPr>
          <a:xfrm>
            <a:off x="618564" y="1237129"/>
            <a:ext cx="4491318"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a:solidFill>
                  <a:schemeClr val="tx1"/>
                </a:solidFill>
                <a:latin typeface="Times New Roman" panose="02020603050405020304" pitchFamily="18" charset="0"/>
                <a:cs typeface="Times New Roman" panose="02020603050405020304" pitchFamily="18" charset="0"/>
              </a:rPr>
              <a:t>1. CONVOLUTIONAL CODES</a:t>
            </a:r>
            <a:endParaRPr lang="en-IN" b="1">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B80B8EC-0A47-FBC0-7B16-1420F61B73DD}"/>
              </a:ext>
            </a:extLst>
          </p:cNvPr>
          <p:cNvSpPr txBox="1"/>
          <p:nvPr/>
        </p:nvSpPr>
        <p:spPr>
          <a:xfrm>
            <a:off x="4684058" y="2882490"/>
            <a:ext cx="1645023" cy="400110"/>
          </a:xfrm>
          <a:prstGeom prst="rect">
            <a:avLst/>
          </a:prstGeom>
          <a:noFill/>
        </p:spPr>
        <p:txBody>
          <a:bodyPr wrap="square">
            <a:spAutoFit/>
          </a:bodyPr>
          <a:lstStyle/>
          <a:p>
            <a:pPr>
              <a:spcBef>
                <a:spcPts val="1200"/>
              </a:spcBef>
            </a:pPr>
            <a:r>
              <a:rPr lang="en-US" sz="2000" b="1">
                <a:effectLst/>
                <a:latin typeface="Times New Roman" panose="02020603050405020304" pitchFamily="18" charset="0"/>
                <a:ea typeface="Times New Roman" panose="02020603050405020304" pitchFamily="18" charset="0"/>
              </a:rPr>
              <a:t>R = k/n</a:t>
            </a:r>
            <a:endParaRPr lang="en-IN" sz="2000" b="1">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C7378901-DF98-99EB-ED7A-99EBDBBDB001}"/>
              </a:ext>
            </a:extLst>
          </p:cNvPr>
          <p:cNvSpPr txBox="1"/>
          <p:nvPr/>
        </p:nvSpPr>
        <p:spPr>
          <a:xfrm>
            <a:off x="694765" y="2670039"/>
            <a:ext cx="1712258" cy="369332"/>
          </a:xfrm>
          <a:prstGeom prst="rect">
            <a:avLst/>
          </a:prstGeom>
          <a:noFill/>
        </p:spPr>
        <p:txBody>
          <a:bodyPr wrap="square">
            <a:spAutoFit/>
          </a:bodyPr>
          <a:lstStyle/>
          <a:p>
            <a:r>
              <a:rPr lang="en-US" b="1">
                <a:effectLst/>
                <a:latin typeface="Times New Roman" panose="02020603050405020304" pitchFamily="18" charset="0"/>
                <a:ea typeface="Times New Roman" panose="02020603050405020304" pitchFamily="18" charset="0"/>
              </a:rPr>
              <a:t>Formula:</a:t>
            </a:r>
            <a:endParaRPr lang="en-IN" b="1">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CE7AA07C-704A-3FF3-FC24-DC2BACB6128D}"/>
              </a:ext>
            </a:extLst>
          </p:cNvPr>
          <p:cNvSpPr txBox="1"/>
          <p:nvPr/>
        </p:nvSpPr>
        <p:spPr>
          <a:xfrm>
            <a:off x="618564" y="3192982"/>
            <a:ext cx="2967317" cy="458074"/>
          </a:xfrm>
          <a:prstGeom prst="rect">
            <a:avLst/>
          </a:prstGeom>
          <a:noFill/>
        </p:spPr>
        <p:txBody>
          <a:bodyPr wrap="square">
            <a:spAutoFit/>
          </a:bodyPr>
          <a:lstStyle/>
          <a:p>
            <a:pPr marR="368935" indent="-89535" algn="just">
              <a:lnSpc>
                <a:spcPct val="150000"/>
              </a:lnSpc>
              <a:tabLst>
                <a:tab pos="678180" algn="l"/>
              </a:tabLst>
            </a:pPr>
            <a:r>
              <a:rPr lang="en-IN" sz="1800" b="1">
                <a:effectLst/>
                <a:latin typeface="Times New Roman" panose="02020603050405020304" pitchFamily="18" charset="0"/>
                <a:ea typeface="Times New Roman" panose="02020603050405020304" pitchFamily="18" charset="0"/>
              </a:rPr>
              <a:t>2. LDPC CODES</a:t>
            </a:r>
          </a:p>
        </p:txBody>
      </p:sp>
      <p:sp>
        <p:nvSpPr>
          <p:cNvPr id="20" name="TextBox 19">
            <a:extLst>
              <a:ext uri="{FF2B5EF4-FFF2-40B4-BE49-F238E27FC236}">
                <a16:creationId xmlns:a16="http://schemas.microsoft.com/office/drawing/2014/main" id="{8689D99B-588F-27F8-AB69-836B051D8F23}"/>
              </a:ext>
            </a:extLst>
          </p:cNvPr>
          <p:cNvSpPr txBox="1"/>
          <p:nvPr/>
        </p:nvSpPr>
        <p:spPr>
          <a:xfrm>
            <a:off x="674593" y="3651056"/>
            <a:ext cx="10914529" cy="1015663"/>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         LDPC (Low-Density Parity-Check) codes are advanced error-correcting codes that use a sparse parity-check matrix for efficient encoding and decoding. They provide very low BER and performance close to the Shannon limit, making them suitable for 5G and modern communication systems.</a:t>
            </a:r>
            <a:endParaRPr lang="en-IN" sz="20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8F696D17-4827-5640-B343-30A20645169B}"/>
              </a:ext>
            </a:extLst>
          </p:cNvPr>
          <p:cNvSpPr txBox="1"/>
          <p:nvPr/>
        </p:nvSpPr>
        <p:spPr>
          <a:xfrm>
            <a:off x="694765" y="4696621"/>
            <a:ext cx="1712258" cy="369332"/>
          </a:xfrm>
          <a:prstGeom prst="rect">
            <a:avLst/>
          </a:prstGeom>
          <a:noFill/>
        </p:spPr>
        <p:txBody>
          <a:bodyPr wrap="square">
            <a:spAutoFit/>
          </a:bodyPr>
          <a:lstStyle/>
          <a:p>
            <a:r>
              <a:rPr lang="en-US" b="1">
                <a:effectLst/>
                <a:latin typeface="Times New Roman" panose="02020603050405020304" pitchFamily="18" charset="0"/>
                <a:ea typeface="Times New Roman" panose="02020603050405020304" pitchFamily="18" charset="0"/>
              </a:rPr>
              <a:t>Formula:</a:t>
            </a:r>
            <a:endParaRPr lang="en-IN" b="1">
              <a:effectLst/>
              <a:latin typeface="Times New Roman" panose="02020603050405020304" pitchFamily="18" charset="0"/>
              <a:ea typeface="Times New Roman" panose="02020603050405020304" pitchFamily="18" charset="0"/>
            </a:endParaRPr>
          </a:p>
        </p:txBody>
      </p:sp>
      <p:sp>
        <p:nvSpPr>
          <p:cNvPr id="25" name="TextBox 24">
            <a:extLst>
              <a:ext uri="{FF2B5EF4-FFF2-40B4-BE49-F238E27FC236}">
                <a16:creationId xmlns:a16="http://schemas.microsoft.com/office/drawing/2014/main" id="{27BBF5A1-C397-F9C5-9F56-D69EE2C67383}"/>
              </a:ext>
            </a:extLst>
          </p:cNvPr>
          <p:cNvSpPr txBox="1"/>
          <p:nvPr/>
        </p:nvSpPr>
        <p:spPr>
          <a:xfrm>
            <a:off x="4684059" y="5125887"/>
            <a:ext cx="6096000" cy="400110"/>
          </a:xfrm>
          <a:prstGeom prst="rect">
            <a:avLst/>
          </a:prstGeom>
          <a:noFill/>
        </p:spPr>
        <p:txBody>
          <a:bodyPr wrap="square">
            <a:spAutoFit/>
          </a:bodyPr>
          <a:lstStyle/>
          <a:p>
            <a:pPr>
              <a:spcBef>
                <a:spcPts val="1200"/>
              </a:spcBef>
            </a:pPr>
            <a:r>
              <a:rPr lang="en-IN" sz="2000" b="1">
                <a:latin typeface="Times New Roman" panose="02020603050405020304" pitchFamily="18" charset="0"/>
              </a:rPr>
              <a:t>H * c^T = 0</a:t>
            </a:r>
          </a:p>
        </p:txBody>
      </p:sp>
    </p:spTree>
    <p:extLst>
      <p:ext uri="{BB962C8B-B14F-4D97-AF65-F5344CB8AC3E}">
        <p14:creationId xmlns:p14="http://schemas.microsoft.com/office/powerpoint/2010/main" val="29061323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0D3FB0-5686-3AE9-942C-1CECE3FA6F9E}"/>
              </a:ext>
            </a:extLst>
          </p:cNvPr>
          <p:cNvSpPr txBox="1"/>
          <p:nvPr/>
        </p:nvSpPr>
        <p:spPr>
          <a:xfrm>
            <a:off x="600635" y="590781"/>
            <a:ext cx="6096000" cy="369332"/>
          </a:xfrm>
          <a:prstGeom prst="rect">
            <a:avLst/>
          </a:prstGeom>
          <a:noFill/>
        </p:spPr>
        <p:txBody>
          <a:bodyPr wrap="square">
            <a:spAutoFit/>
          </a:bodyPr>
          <a:lstStyle/>
          <a:p>
            <a:r>
              <a:rPr lang="en-GB" b="1">
                <a:latin typeface="Times New Roman" panose="02020603050405020304" pitchFamily="18" charset="0"/>
                <a:cs typeface="Times New Roman" panose="02020603050405020304" pitchFamily="18" charset="0"/>
              </a:rPr>
              <a:t>3</a:t>
            </a:r>
            <a:r>
              <a:rPr lang="en-GB" b="1">
                <a:solidFill>
                  <a:schemeClr val="tx1"/>
                </a:solidFill>
                <a:latin typeface="Times New Roman" panose="02020603050405020304" pitchFamily="18" charset="0"/>
                <a:cs typeface="Times New Roman" panose="02020603050405020304" pitchFamily="18" charset="0"/>
              </a:rPr>
              <a:t>. TURBO CODES</a:t>
            </a:r>
            <a:endParaRPr lang="en-IN" b="1">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8C1C59-BB30-2F51-2DC9-F5DCFE856CFA}"/>
              </a:ext>
            </a:extLst>
          </p:cNvPr>
          <p:cNvSpPr txBox="1"/>
          <p:nvPr/>
        </p:nvSpPr>
        <p:spPr>
          <a:xfrm>
            <a:off x="600635" y="1069539"/>
            <a:ext cx="10910047" cy="1015663"/>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Turbo codes are powerful error-correcting codes that use two convolutional encoders and an interleaver to improve performance. The interleaver rearranges input bits, reducing burst errors. Turbo codes achieve very low BER and performance close to the Shannon limit, but they have higher latency and complexity.</a:t>
            </a:r>
            <a:endParaRPr lang="en-IN" sz="20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D80C10F-20C7-A6FA-8B21-937819E6953E}"/>
              </a:ext>
            </a:extLst>
          </p:cNvPr>
          <p:cNvSpPr txBox="1"/>
          <p:nvPr/>
        </p:nvSpPr>
        <p:spPr>
          <a:xfrm>
            <a:off x="685800" y="2215424"/>
            <a:ext cx="6096000" cy="369332"/>
          </a:xfrm>
          <a:prstGeom prst="rect">
            <a:avLst/>
          </a:prstGeom>
          <a:noFill/>
        </p:spPr>
        <p:txBody>
          <a:bodyPr wrap="square">
            <a:spAutoFit/>
          </a:bodyPr>
          <a:lstStyle/>
          <a:p>
            <a:r>
              <a:rPr lang="en-US" b="1">
                <a:effectLst/>
                <a:latin typeface="Times New Roman" panose="02020603050405020304" pitchFamily="18" charset="0"/>
                <a:ea typeface="Times New Roman" panose="02020603050405020304" pitchFamily="18" charset="0"/>
              </a:rPr>
              <a:t>Formula:</a:t>
            </a:r>
            <a:endParaRPr lang="en-IN" b="1">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6DD3A2BF-4088-2FA5-63E8-7EB0C1541772}"/>
              </a:ext>
            </a:extLst>
          </p:cNvPr>
          <p:cNvSpPr txBox="1"/>
          <p:nvPr/>
        </p:nvSpPr>
        <p:spPr>
          <a:xfrm>
            <a:off x="3648635" y="2488720"/>
            <a:ext cx="6096000" cy="400110"/>
          </a:xfrm>
          <a:prstGeom prst="rect">
            <a:avLst/>
          </a:prstGeom>
          <a:noFill/>
        </p:spPr>
        <p:txBody>
          <a:bodyPr wrap="square">
            <a:spAutoFit/>
          </a:bodyPr>
          <a:lstStyle/>
          <a:p>
            <a:r>
              <a:rPr lang="en-IN" sz="2000" b="1">
                <a:latin typeface="Times New Roman" panose="02020603050405020304" pitchFamily="18" charset="0"/>
                <a:cs typeface="Times New Roman" panose="02020603050405020304" pitchFamily="18" charset="0"/>
              </a:rPr>
              <a:t>LLR = log ( P(y|x=1) / P(y|x=0) )</a:t>
            </a:r>
          </a:p>
        </p:txBody>
      </p:sp>
      <p:sp>
        <p:nvSpPr>
          <p:cNvPr id="17" name="TextBox 16">
            <a:extLst>
              <a:ext uri="{FF2B5EF4-FFF2-40B4-BE49-F238E27FC236}">
                <a16:creationId xmlns:a16="http://schemas.microsoft.com/office/drawing/2014/main" id="{58272AB4-E6D7-0A6A-C3B0-C45CFB7C4564}"/>
              </a:ext>
            </a:extLst>
          </p:cNvPr>
          <p:cNvSpPr txBox="1"/>
          <p:nvPr/>
        </p:nvSpPr>
        <p:spPr>
          <a:xfrm>
            <a:off x="672353" y="3182922"/>
            <a:ext cx="6096000" cy="369332"/>
          </a:xfrm>
          <a:prstGeom prst="rect">
            <a:avLst/>
          </a:prstGeom>
          <a:noFill/>
        </p:spPr>
        <p:txBody>
          <a:bodyPr wrap="square">
            <a:spAutoFit/>
          </a:bodyPr>
          <a:lstStyle/>
          <a:p>
            <a:r>
              <a:rPr lang="en-GB" b="1">
                <a:solidFill>
                  <a:schemeClr val="tx1"/>
                </a:solidFill>
                <a:latin typeface="Times New Roman" panose="02020603050405020304" pitchFamily="18" charset="0"/>
                <a:cs typeface="Times New Roman" panose="02020603050405020304" pitchFamily="18" charset="0"/>
              </a:rPr>
              <a:t>4. POLAR CODES</a:t>
            </a:r>
            <a:endParaRPr lang="en-IN" b="1">
              <a:solidFill>
                <a:schemeClr val="tx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45B69149-8DF9-0740-8ACF-761B4379D240}"/>
              </a:ext>
            </a:extLst>
          </p:cNvPr>
          <p:cNvSpPr txBox="1"/>
          <p:nvPr/>
        </p:nvSpPr>
        <p:spPr>
          <a:xfrm>
            <a:off x="685800" y="3650866"/>
            <a:ext cx="10739716" cy="1323439"/>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Polar codes provide low latency, high spectral efficiency, and excellent performance, making them suitable for next-generation (5G &amp; 6G) systems, though they involve higher complexity. The channels are divided into reliable and unreliable channels, where reliable channels carry information bits and others are assigned frozen bits to improve error correction.</a:t>
            </a:r>
            <a:endParaRPr lang="en-IN" sz="20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2BD7A422-95B2-EE48-E108-E382A47A61AB}"/>
              </a:ext>
            </a:extLst>
          </p:cNvPr>
          <p:cNvSpPr txBox="1"/>
          <p:nvPr/>
        </p:nvSpPr>
        <p:spPr>
          <a:xfrm>
            <a:off x="766484" y="4974305"/>
            <a:ext cx="6096000" cy="369332"/>
          </a:xfrm>
          <a:prstGeom prst="rect">
            <a:avLst/>
          </a:prstGeom>
          <a:noFill/>
        </p:spPr>
        <p:txBody>
          <a:bodyPr wrap="square">
            <a:spAutoFit/>
          </a:bodyPr>
          <a:lstStyle/>
          <a:p>
            <a:r>
              <a:rPr lang="en-US" b="1">
                <a:effectLst/>
                <a:latin typeface="Times New Roman" panose="02020603050405020304" pitchFamily="18" charset="0"/>
                <a:ea typeface="Times New Roman" panose="02020603050405020304" pitchFamily="18" charset="0"/>
              </a:rPr>
              <a:t>Formula:</a:t>
            </a:r>
            <a:endParaRPr lang="en-IN" b="1">
              <a:effectLst/>
              <a:latin typeface="Times New Roman" panose="02020603050405020304" pitchFamily="18" charset="0"/>
              <a:ea typeface="Times New Roman" panose="02020603050405020304" pitchFamily="18" charset="0"/>
            </a:endParaRPr>
          </a:p>
        </p:txBody>
      </p:sp>
      <p:sp>
        <p:nvSpPr>
          <p:cNvPr id="25" name="TextBox 24">
            <a:extLst>
              <a:ext uri="{FF2B5EF4-FFF2-40B4-BE49-F238E27FC236}">
                <a16:creationId xmlns:a16="http://schemas.microsoft.com/office/drawing/2014/main" id="{FB10CF68-1C60-5FE6-1B70-A626693D2136}"/>
              </a:ext>
            </a:extLst>
          </p:cNvPr>
          <p:cNvSpPr txBox="1"/>
          <p:nvPr/>
        </p:nvSpPr>
        <p:spPr>
          <a:xfrm>
            <a:off x="4733365" y="5367009"/>
            <a:ext cx="6096000" cy="400110"/>
          </a:xfrm>
          <a:prstGeom prst="rect">
            <a:avLst/>
          </a:prstGeom>
          <a:noFill/>
        </p:spPr>
        <p:txBody>
          <a:bodyPr wrap="square">
            <a:spAutoFit/>
          </a:bodyPr>
          <a:lstStyle/>
          <a:p>
            <a:r>
              <a:rPr lang="en-IN" sz="2000" b="1">
                <a:latin typeface="Times New Roman" panose="02020603050405020304" pitchFamily="18" charset="0"/>
                <a:cs typeface="Times New Roman" panose="02020603050405020304" pitchFamily="18" charset="0"/>
              </a:rPr>
              <a:t>x = u * G_N</a:t>
            </a:r>
          </a:p>
        </p:txBody>
      </p:sp>
    </p:spTree>
    <p:extLst>
      <p:ext uri="{BB962C8B-B14F-4D97-AF65-F5344CB8AC3E}">
        <p14:creationId xmlns:p14="http://schemas.microsoft.com/office/powerpoint/2010/main" val="184375368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5B3A7E-BD0B-106D-02F9-6F0D8F87744F}"/>
              </a:ext>
            </a:extLst>
          </p:cNvPr>
          <p:cNvSpPr txBox="1"/>
          <p:nvPr/>
        </p:nvSpPr>
        <p:spPr>
          <a:xfrm>
            <a:off x="582706" y="761110"/>
            <a:ext cx="7082118" cy="461665"/>
          </a:xfrm>
          <a:prstGeom prst="rect">
            <a:avLst/>
          </a:prstGeom>
          <a:noFill/>
        </p:spPr>
        <p:txBody>
          <a:bodyPr wrap="square">
            <a:spAutoFit/>
          </a:bodyPr>
          <a:lstStyle/>
          <a:p>
            <a:r>
              <a:rPr lang="en-IN" sz="2400" b="1">
                <a:latin typeface="Times" panose="02020603050405020304" pitchFamily="18" charset="0"/>
                <a:cs typeface="Times" panose="02020603050405020304" pitchFamily="18" charset="0"/>
              </a:rPr>
              <a:t>IMPLEMENTATION &amp; WORKING PROCESS</a:t>
            </a:r>
          </a:p>
        </p:txBody>
      </p:sp>
      <p:sp>
        <p:nvSpPr>
          <p:cNvPr id="7" name="Rectangle 2">
            <a:extLst>
              <a:ext uri="{FF2B5EF4-FFF2-40B4-BE49-F238E27FC236}">
                <a16:creationId xmlns:a16="http://schemas.microsoft.com/office/drawing/2014/main" id="{55DE1069-7B97-ED5B-D21C-6F39EE34F3C5}"/>
              </a:ext>
            </a:extLst>
          </p:cNvPr>
          <p:cNvSpPr>
            <a:spLocks noChangeArrowheads="1"/>
          </p:cNvSpPr>
          <p:nvPr/>
        </p:nvSpPr>
        <p:spPr bwMode="auto">
          <a:xfrm>
            <a:off x="582706" y="1222775"/>
            <a:ext cx="1102658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system is implemented in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MATLAB</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using a </a:t>
            </a:r>
            <a:r>
              <a:rPr kumimoji="0" lang="en-US" altLang="en-US"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MIMO-OFDM communication model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Random binary data</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is generated and encoded using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Convolutional, Turbo, LDPC, and Polar codes</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to add redundancy for error correction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Encoded data is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interleaved</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to reduce burst errors and then modulated using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QPSK/QAM</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converting bits into symbols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OFDM processing</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IFFT</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converts signals to time domain and a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cyclic prefix</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is added to reduce inter-symbol interference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signal is transmitted using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MIMO antennas</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improving </a:t>
            </a:r>
            <a:r>
              <a:rPr kumimoji="0" lang="en-US" altLang="en-US"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data rate, capacity, and reliability,</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and passes through an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AWGN channel</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the receiver, </a:t>
            </a:r>
            <a:r>
              <a:rPr kumimoji="0" lang="en-US" altLang="en-US"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cyclic prefix removal,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FFT, and signal detection (ZF/MMSE)</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are performed to recover the transmitted signal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signal is then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demodulated, deinterleaved, and decoded</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using respective decoding techniques to retrieve original data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Finally,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BER is calculated</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to evaluate and compare the performance of different coding techniques under varying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SNR conditions</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0CAB5391-0ED8-B914-E035-E164AFF9595C}"/>
              </a:ext>
            </a:extLst>
          </p:cNvPr>
          <p:cNvSpPr txBox="1"/>
          <p:nvPr/>
        </p:nvSpPr>
        <p:spPr>
          <a:xfrm>
            <a:off x="3611418" y="5839423"/>
            <a:ext cx="6096000" cy="369332"/>
          </a:xfrm>
          <a:prstGeom prst="rect">
            <a:avLst/>
          </a:prstGeom>
          <a:noFill/>
        </p:spPr>
        <p:txBody>
          <a:bodyPr wrap="square">
            <a:spAutoFit/>
          </a:bodyPr>
          <a:lstStyle/>
          <a:p>
            <a:r>
              <a:rPr lang="en-IN" b="1">
                <a:latin typeface="Times New Roman" panose="02020603050405020304" pitchFamily="18" charset="0"/>
                <a:cs typeface="Times New Roman" panose="02020603050405020304" pitchFamily="18" charset="0"/>
              </a:rPr>
              <a:t>BER = Number of Error Bits / Total Number of Bits</a:t>
            </a:r>
          </a:p>
        </p:txBody>
      </p:sp>
    </p:spTree>
    <p:extLst>
      <p:ext uri="{BB962C8B-B14F-4D97-AF65-F5344CB8AC3E}">
        <p14:creationId xmlns:p14="http://schemas.microsoft.com/office/powerpoint/2010/main" val="3563526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99EE98-B0EB-3CD3-F88F-31EA9E3BB5A6}"/>
              </a:ext>
            </a:extLst>
          </p:cNvPr>
          <p:cNvSpPr txBox="1"/>
          <p:nvPr/>
        </p:nvSpPr>
        <p:spPr>
          <a:xfrm>
            <a:off x="636494" y="501134"/>
            <a:ext cx="6096000" cy="646331"/>
          </a:xfrm>
          <a:prstGeom prst="rect">
            <a:avLst/>
          </a:prstGeom>
          <a:noFill/>
        </p:spPr>
        <p:txBody>
          <a:bodyPr wrap="square">
            <a:spAutoFit/>
          </a:bodyPr>
          <a:lstStyle/>
          <a:p>
            <a:r>
              <a:rPr lang="en-IN" sz="3600">
                <a:latin typeface="Times New Roman" panose="02020603050405020304" pitchFamily="18" charset="0"/>
                <a:cs typeface="Times New Roman" panose="02020603050405020304" pitchFamily="18" charset="0"/>
              </a:rPr>
              <a:t>Results Overview</a:t>
            </a:r>
          </a:p>
        </p:txBody>
      </p:sp>
      <p:pic>
        <p:nvPicPr>
          <p:cNvPr id="4" name="Content Placeholder 2">
            <a:extLst>
              <a:ext uri="{FF2B5EF4-FFF2-40B4-BE49-F238E27FC236}">
                <a16:creationId xmlns:a16="http://schemas.microsoft.com/office/drawing/2014/main" id="{10F8E4FC-B872-9337-728C-BDF751054811}"/>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790152" y="1244684"/>
            <a:ext cx="5001048" cy="3452821"/>
          </a:xfrm>
          <a:prstGeom prst="rect">
            <a:avLst/>
          </a:prstGeom>
        </p:spPr>
      </p:pic>
      <p:sp>
        <p:nvSpPr>
          <p:cNvPr id="6" name="Rectangle 1">
            <a:extLst>
              <a:ext uri="{FF2B5EF4-FFF2-40B4-BE49-F238E27FC236}">
                <a16:creationId xmlns:a16="http://schemas.microsoft.com/office/drawing/2014/main" id="{70131E7A-BD0B-8ED7-0050-ADC61AE6D91D}"/>
              </a:ext>
            </a:extLst>
          </p:cNvPr>
          <p:cNvSpPr>
            <a:spLocks noChangeArrowheads="1"/>
          </p:cNvSpPr>
          <p:nvPr/>
        </p:nvSpPr>
        <p:spPr bwMode="auto">
          <a:xfrm>
            <a:off x="688985" y="4595998"/>
            <a:ext cx="520338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a:latin typeface="Times New Roman" panose="02020603050405020304" pitchFamily="18" charset="0"/>
                <a:cs typeface="Times New Roman" panose="02020603050405020304" pitchFamily="18" charset="0"/>
              </a:rPr>
              <a:t>BER decreases as SNR increases. QPSK shows lowest BER, while 64-QAM has higher BER due to noise sensitivity. Lower-order modulation is more reliable.</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579AEAA4-4E96-EC0A-0E9B-F54B12E74700}"/>
              </a:ext>
            </a:extLst>
          </p:cNvPr>
          <p:cNvSpPr>
            <a:spLocks noChangeArrowheads="1"/>
          </p:cNvSpPr>
          <p:nvPr/>
        </p:nvSpPr>
        <p:spPr bwMode="auto">
          <a:xfrm>
            <a:off x="6605730" y="4794722"/>
            <a:ext cx="510091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a:latin typeface="Times New Roman" panose="02020603050405020304" pitchFamily="18" charset="0"/>
                <a:cs typeface="Times New Roman" panose="02020603050405020304" pitchFamily="18" charset="0"/>
              </a:rPr>
              <a:t>Soft Viterbi decoding gives lower BER than hard decoding. BER decreases with SNR. Soft decoding improves performance using probability information.</a:t>
            </a:r>
            <a:endParaRPr lang="en-US" altLang="en-US" sz="2000">
              <a:latin typeface="Times New Roman" panose="02020603050405020304" pitchFamily="18" charset="0"/>
              <a:cs typeface="Times New Roman" panose="02020603050405020304" pitchFamily="18" charset="0"/>
            </a:endParaRPr>
          </a:p>
        </p:txBody>
      </p:sp>
      <p:pic>
        <p:nvPicPr>
          <p:cNvPr id="7" name="Content Placeholder 4">
            <a:extLst>
              <a:ext uri="{FF2B5EF4-FFF2-40B4-BE49-F238E27FC236}">
                <a16:creationId xmlns:a16="http://schemas.microsoft.com/office/drawing/2014/main" id="{0DEF4638-305F-0328-BE1F-B7E7B03425CC}"/>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a:xfrm>
            <a:off x="6207926" y="1244683"/>
            <a:ext cx="5295089" cy="3452821"/>
          </a:xfrm>
          <a:prstGeom prst="rect">
            <a:avLst/>
          </a:prstGeom>
        </p:spPr>
      </p:pic>
    </p:spTree>
    <p:extLst>
      <p:ext uri="{BB962C8B-B14F-4D97-AF65-F5344CB8AC3E}">
        <p14:creationId xmlns:p14="http://schemas.microsoft.com/office/powerpoint/2010/main" val="184211201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1004BE-4DD0-9BC2-8208-3E9786FDF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8661" y="639590"/>
            <a:ext cx="5334000" cy="3424383"/>
          </a:xfrm>
          <a:prstGeom prst="rect">
            <a:avLst/>
          </a:prstGeom>
        </p:spPr>
      </p:pic>
      <p:sp>
        <p:nvSpPr>
          <p:cNvPr id="4" name="Rectangle 1">
            <a:extLst>
              <a:ext uri="{FF2B5EF4-FFF2-40B4-BE49-F238E27FC236}">
                <a16:creationId xmlns:a16="http://schemas.microsoft.com/office/drawing/2014/main" id="{FF6545CB-7222-6B35-4EA6-5A333EFAACD0}"/>
              </a:ext>
            </a:extLst>
          </p:cNvPr>
          <p:cNvSpPr>
            <a:spLocks noChangeArrowheads="1"/>
          </p:cNvSpPr>
          <p:nvPr/>
        </p:nvSpPr>
        <p:spPr bwMode="auto">
          <a:xfrm>
            <a:off x="730873" y="4617971"/>
            <a:ext cx="506418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a:latin typeface="Times New Roman" panose="02020603050405020304" pitchFamily="18" charset="0"/>
                <a:cs typeface="Times New Roman" panose="02020603050405020304" pitchFamily="18" charset="0"/>
              </a:rPr>
              <a:t>LDPC significantly reduces BER compared to without coding. Performance improves as SNR increases, showing strong error correction capability.</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92CD69DE-A812-F9B0-C412-135FED121150}"/>
              </a:ext>
            </a:extLst>
          </p:cNvPr>
          <p:cNvSpPr>
            <a:spLocks noChangeArrowheads="1"/>
          </p:cNvSpPr>
          <p:nvPr/>
        </p:nvSpPr>
        <p:spPr bwMode="auto">
          <a:xfrm>
            <a:off x="6395863" y="4617971"/>
            <a:ext cx="506418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a:latin typeface="Times New Roman" panose="02020603050405020304" pitchFamily="18" charset="0"/>
                <a:cs typeface="Times New Roman" panose="02020603050405020304" pitchFamily="18" charset="0"/>
              </a:rPr>
              <a:t>Turbo coding improves BER gradually with SNR. It provides good error correction but has higher complexity and latency due to iterative decoding.</a:t>
            </a:r>
            <a:endParaRPr lang="en-US" altLang="en-US" sz="20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EB2C731-D32C-C0D2-DE46-9165A44EC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205" y="639591"/>
            <a:ext cx="5305848" cy="3452821"/>
          </a:xfrm>
          <a:prstGeom prst="rect">
            <a:avLst/>
          </a:prstGeom>
        </p:spPr>
      </p:pic>
    </p:spTree>
    <p:extLst>
      <p:ext uri="{BB962C8B-B14F-4D97-AF65-F5344CB8AC3E}">
        <p14:creationId xmlns:p14="http://schemas.microsoft.com/office/powerpoint/2010/main" val="41283969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2">
            <a:extLst>
              <a:ext uri="{FF2B5EF4-FFF2-40B4-BE49-F238E27FC236}">
                <a16:creationId xmlns:a16="http://schemas.microsoft.com/office/drawing/2014/main" id="{5AB85104-C024-069F-81A1-15BF37F7A410}"/>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663387" y="717177"/>
            <a:ext cx="4634753" cy="3164540"/>
          </a:xfrm>
          <a:prstGeom prst="rect">
            <a:avLst/>
          </a:prstGeom>
        </p:spPr>
      </p:pic>
      <p:sp>
        <p:nvSpPr>
          <p:cNvPr id="3" name="Rectangle 1">
            <a:extLst>
              <a:ext uri="{FF2B5EF4-FFF2-40B4-BE49-F238E27FC236}">
                <a16:creationId xmlns:a16="http://schemas.microsoft.com/office/drawing/2014/main" id="{37B0421E-6012-BE20-17A1-F7C666D81F8D}"/>
              </a:ext>
            </a:extLst>
          </p:cNvPr>
          <p:cNvSpPr>
            <a:spLocks noChangeArrowheads="1"/>
          </p:cNvSpPr>
          <p:nvPr/>
        </p:nvSpPr>
        <p:spPr bwMode="auto">
          <a:xfrm>
            <a:off x="5689056" y="1509291"/>
            <a:ext cx="564328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a:latin typeface="Times New Roman" panose="02020603050405020304" pitchFamily="18" charset="0"/>
                <a:cs typeface="Times New Roman" panose="02020603050405020304" pitchFamily="18" charset="0"/>
              </a:rPr>
              <a:t>Polar coding shows the best performance with lowest BER. BER decreases rapidly with SNR, making it suitable for 5G and 6G systems.</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27CF060-C47D-FA56-C516-EAD6C8FD5579}"/>
              </a:ext>
            </a:extLst>
          </p:cNvPr>
          <p:cNvSpPr txBox="1"/>
          <p:nvPr/>
        </p:nvSpPr>
        <p:spPr>
          <a:xfrm>
            <a:off x="847163" y="4207658"/>
            <a:ext cx="10322860" cy="1323439"/>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         From the proposed system graphs, it is observed that Advanced channel coding techniques significantly enhance performance. </a:t>
            </a:r>
            <a:r>
              <a:rPr lang="en-GB" sz="2000" b="1">
                <a:latin typeface="Times New Roman" panose="02020603050405020304" pitchFamily="18" charset="0"/>
                <a:cs typeface="Times New Roman" panose="02020603050405020304" pitchFamily="18" charset="0"/>
              </a:rPr>
              <a:t>Soft Viterbi decoding</a:t>
            </a:r>
            <a:r>
              <a:rPr lang="en-GB" sz="2000">
                <a:latin typeface="Times New Roman" panose="02020603050405020304" pitchFamily="18" charset="0"/>
                <a:cs typeface="Times New Roman" panose="02020603050405020304" pitchFamily="18" charset="0"/>
              </a:rPr>
              <a:t>, </a:t>
            </a:r>
            <a:r>
              <a:rPr lang="en-GB" sz="2000" b="1">
                <a:latin typeface="Times New Roman" panose="02020603050405020304" pitchFamily="18" charset="0"/>
                <a:cs typeface="Times New Roman" panose="02020603050405020304" pitchFamily="18" charset="0"/>
              </a:rPr>
              <a:t>LDPC</a:t>
            </a:r>
            <a:r>
              <a:rPr lang="en-GB" sz="2000">
                <a:latin typeface="Times New Roman" panose="02020603050405020304" pitchFamily="18" charset="0"/>
                <a:cs typeface="Times New Roman" panose="02020603050405020304" pitchFamily="18" charset="0"/>
              </a:rPr>
              <a:t>, and </a:t>
            </a:r>
            <a:r>
              <a:rPr lang="en-GB" sz="2000" b="1">
                <a:latin typeface="Times New Roman" panose="02020603050405020304" pitchFamily="18" charset="0"/>
                <a:cs typeface="Times New Roman" panose="02020603050405020304" pitchFamily="18" charset="0"/>
              </a:rPr>
              <a:t>Turbo codes</a:t>
            </a:r>
            <a:r>
              <a:rPr lang="en-GB" sz="2000">
                <a:latin typeface="Times New Roman" panose="02020603050405020304" pitchFamily="18" charset="0"/>
                <a:cs typeface="Times New Roman" panose="02020603050405020304" pitchFamily="18" charset="0"/>
              </a:rPr>
              <a:t> improve error correction, while </a:t>
            </a:r>
            <a:r>
              <a:rPr lang="en-GB" sz="2000" b="1">
                <a:latin typeface="Times New Roman" panose="02020603050405020304" pitchFamily="18" charset="0"/>
                <a:cs typeface="Times New Roman" panose="02020603050405020304" pitchFamily="18" charset="0"/>
              </a:rPr>
              <a:t>Polar coding shows the best performance</a:t>
            </a:r>
            <a:r>
              <a:rPr lang="en-GB" sz="2000">
                <a:latin typeface="Times New Roman" panose="02020603050405020304" pitchFamily="18" charset="0"/>
                <a:cs typeface="Times New Roman" panose="02020603050405020304" pitchFamily="18" charset="0"/>
              </a:rPr>
              <a:t> with the lowest BER, low latency, and high efficiency, making it most suitable for </a:t>
            </a:r>
            <a:r>
              <a:rPr lang="en-GB" sz="2000" b="1">
                <a:latin typeface="Times New Roman" panose="02020603050405020304" pitchFamily="18" charset="0"/>
                <a:cs typeface="Times New Roman" panose="02020603050405020304" pitchFamily="18" charset="0"/>
              </a:rPr>
              <a:t>advanced 5G and 6G communication systems</a:t>
            </a:r>
            <a:r>
              <a:rPr lang="en-GB" sz="20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458359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34A7E0-2C41-1A5B-FA8E-B421E80D0F14}"/>
              </a:ext>
            </a:extLst>
          </p:cNvPr>
          <p:cNvSpPr txBox="1"/>
          <p:nvPr/>
        </p:nvSpPr>
        <p:spPr>
          <a:xfrm>
            <a:off x="439270" y="544850"/>
            <a:ext cx="9511553" cy="579967"/>
          </a:xfrm>
          <a:prstGeom prst="rect">
            <a:avLst/>
          </a:prstGeom>
          <a:noFill/>
        </p:spPr>
        <p:txBody>
          <a:bodyPr wrap="square">
            <a:spAutoFit/>
          </a:bodyPr>
          <a:lstStyle/>
          <a:p>
            <a:pPr marL="270510" marR="368935" indent="-180340">
              <a:lnSpc>
                <a:spcPct val="150000"/>
              </a:lnSpc>
              <a:tabLst>
                <a:tab pos="450215" algn="l"/>
              </a:tabLst>
            </a:pPr>
            <a:r>
              <a:rPr lang="en-US" sz="2400" b="1">
                <a:effectLst/>
                <a:latin typeface="Times New Roman" panose="02020603050405020304" pitchFamily="18" charset="0"/>
                <a:ea typeface="Times New Roman" panose="02020603050405020304" pitchFamily="18" charset="0"/>
              </a:rPr>
              <a:t>COMPARISON OF EXISTING AND PROPOSED SYSTEM</a:t>
            </a:r>
            <a:endParaRPr lang="en-IN" sz="2400" b="1">
              <a:effectLst/>
              <a:latin typeface="Times New Roman" panose="02020603050405020304" pitchFamily="18" charset="0"/>
              <a:ea typeface="Times New Roman" panose="02020603050405020304" pitchFamily="18" charset="0"/>
            </a:endParaRPr>
          </a:p>
        </p:txBody>
      </p:sp>
      <p:graphicFrame>
        <p:nvGraphicFramePr>
          <p:cNvPr id="4" name="Table 3">
            <a:extLst>
              <a:ext uri="{FF2B5EF4-FFF2-40B4-BE49-F238E27FC236}">
                <a16:creationId xmlns:a16="http://schemas.microsoft.com/office/drawing/2014/main" id="{27C4F0CD-1258-E4C9-9B26-3169A8398F08}"/>
              </a:ext>
            </a:extLst>
          </p:cNvPr>
          <p:cNvGraphicFramePr>
            <a:graphicFrameLocks noGrp="1"/>
          </p:cNvGraphicFramePr>
          <p:nvPr>
            <p:extLst>
              <p:ext uri="{D42A27DB-BD31-4B8C-83A1-F6EECF244321}">
                <p14:modId xmlns:p14="http://schemas.microsoft.com/office/powerpoint/2010/main" val="1387916379"/>
              </p:ext>
            </p:extLst>
          </p:nvPr>
        </p:nvGraphicFramePr>
        <p:xfrm>
          <a:off x="1228165" y="1586751"/>
          <a:ext cx="9753599" cy="3962403"/>
        </p:xfrm>
        <a:graphic>
          <a:graphicData uri="http://schemas.openxmlformats.org/drawingml/2006/table">
            <a:tbl>
              <a:tblPr firstRow="1" firstCol="1" bandRow="1">
                <a:tableStyleId>{5C22544A-7EE6-4342-B048-85BDC9FD1C3A}</a:tableStyleId>
              </a:tblPr>
              <a:tblGrid>
                <a:gridCol w="3040000">
                  <a:extLst>
                    <a:ext uri="{9D8B030D-6E8A-4147-A177-3AD203B41FA5}">
                      <a16:colId xmlns:a16="http://schemas.microsoft.com/office/drawing/2014/main" val="2169534993"/>
                    </a:ext>
                  </a:extLst>
                </a:gridCol>
                <a:gridCol w="2514779">
                  <a:extLst>
                    <a:ext uri="{9D8B030D-6E8A-4147-A177-3AD203B41FA5}">
                      <a16:colId xmlns:a16="http://schemas.microsoft.com/office/drawing/2014/main" val="923485197"/>
                    </a:ext>
                  </a:extLst>
                </a:gridCol>
                <a:gridCol w="4198820">
                  <a:extLst>
                    <a:ext uri="{9D8B030D-6E8A-4147-A177-3AD203B41FA5}">
                      <a16:colId xmlns:a16="http://schemas.microsoft.com/office/drawing/2014/main" val="3520567287"/>
                    </a:ext>
                  </a:extLst>
                </a:gridCol>
              </a:tblGrid>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Feature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Existing System</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Proposed System</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03442203"/>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Coding Techniques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Convolutional, LDPC</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Turbo, Polar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73140928"/>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BER Performance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Moderate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Very Low</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111624"/>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Latency</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Higher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Lower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18568532"/>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Spectral Efficiency</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Limited</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High</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67245649"/>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Performance at Low SNR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Less efficient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More efficient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80043683"/>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Complexity</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Moderate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Higher but optimized</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00460674"/>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Reliability</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Moderate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High</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3998866"/>
                  </a:ext>
                </a:extLst>
              </a:tr>
              <a:tr h="440267">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Suitability for 5G/6G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GB" sz="2000">
                          <a:effectLst/>
                          <a:latin typeface="Times New Roman" panose="02020603050405020304" pitchFamily="18" charset="0"/>
                          <a:ea typeface="Times New Roman" panose="02020603050405020304" pitchFamily="18" charset="0"/>
                          <a:cs typeface="Times New Roman" panose="02020603050405020304" pitchFamily="18" charset="0"/>
                        </a:rPr>
                        <a:t>N</a:t>
                      </a:r>
                      <a:r>
                        <a:rPr lang="en-IN" sz="2000">
                          <a:effectLst/>
                          <a:latin typeface="Times New Roman" panose="02020603050405020304" pitchFamily="18" charset="0"/>
                          <a:ea typeface="Times New Roman" panose="02020603050405020304" pitchFamily="18" charset="0"/>
                          <a:cs typeface="Times New Roman" panose="02020603050405020304" pitchFamily="18" charset="0"/>
                        </a:rPr>
                        <a:t>ot Suitable</a:t>
                      </a:r>
                    </a:p>
                  </a:txBody>
                  <a:tcPr marL="68580" marR="68580" marT="0" marB="0"/>
                </a:tc>
                <a:tc>
                  <a:txBody>
                    <a:bodyPr/>
                    <a:lstStyle/>
                    <a:p>
                      <a:pPr algn="l">
                        <a:lnSpc>
                          <a:spcPct val="150000"/>
                        </a:lnSpc>
                      </a:pPr>
                      <a:r>
                        <a:rPr lang="en-IN" sz="2000">
                          <a:effectLst/>
                          <a:latin typeface="Times New Roman" panose="02020603050405020304" pitchFamily="18" charset="0"/>
                          <a:cs typeface="Times New Roman" panose="02020603050405020304" pitchFamily="18" charset="0"/>
                        </a:rPr>
                        <a:t>Highly Suitable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84475228"/>
                  </a:ext>
                </a:extLst>
              </a:tr>
            </a:tbl>
          </a:graphicData>
        </a:graphic>
      </p:graphicFrame>
    </p:spTree>
    <p:extLst>
      <p:ext uri="{BB962C8B-B14F-4D97-AF65-F5344CB8AC3E}">
        <p14:creationId xmlns:p14="http://schemas.microsoft.com/office/powerpoint/2010/main" val="289142051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6873A3-98C4-7C2F-3A71-66D5389A0781}"/>
              </a:ext>
            </a:extLst>
          </p:cNvPr>
          <p:cNvSpPr txBox="1"/>
          <p:nvPr/>
        </p:nvSpPr>
        <p:spPr>
          <a:xfrm>
            <a:off x="555812" y="570183"/>
            <a:ext cx="11071412" cy="1133965"/>
          </a:xfrm>
          <a:prstGeom prst="rect">
            <a:avLst/>
          </a:prstGeom>
          <a:noFill/>
        </p:spPr>
        <p:txBody>
          <a:bodyPr wrap="square">
            <a:spAutoFit/>
          </a:bodyPr>
          <a:lstStyle/>
          <a:p>
            <a:pPr marL="270510" marR="368935" indent="-180340" algn="ctr">
              <a:lnSpc>
                <a:spcPct val="150000"/>
              </a:lnSpc>
              <a:tabLst>
                <a:tab pos="450215" algn="l"/>
              </a:tabLst>
            </a:pPr>
            <a:r>
              <a:rPr lang="en-US" sz="2400" b="1">
                <a:effectLst/>
                <a:latin typeface="Times New Roman" panose="02020603050405020304" pitchFamily="18" charset="0"/>
                <a:ea typeface="Times New Roman" panose="02020603050405020304" pitchFamily="18" charset="0"/>
              </a:rPr>
              <a:t>SUITABILITY OF CODING TECHNIQUES FOR COMMUNICATION SYSTEMS</a:t>
            </a:r>
            <a:endParaRPr lang="en-IN" sz="2400" b="1">
              <a:effectLst/>
              <a:latin typeface="Times New Roman" panose="02020603050405020304" pitchFamily="18" charset="0"/>
              <a:ea typeface="Times New Roman" panose="02020603050405020304" pitchFamily="18" charset="0"/>
            </a:endParaRPr>
          </a:p>
        </p:txBody>
      </p:sp>
      <p:graphicFrame>
        <p:nvGraphicFramePr>
          <p:cNvPr id="4" name="Table 3">
            <a:extLst>
              <a:ext uri="{FF2B5EF4-FFF2-40B4-BE49-F238E27FC236}">
                <a16:creationId xmlns:a16="http://schemas.microsoft.com/office/drawing/2014/main" id="{3CB0859D-C390-9FE7-A079-6234F2464C96}"/>
              </a:ext>
            </a:extLst>
          </p:cNvPr>
          <p:cNvGraphicFramePr>
            <a:graphicFrameLocks noGrp="1"/>
          </p:cNvGraphicFramePr>
          <p:nvPr>
            <p:extLst>
              <p:ext uri="{D42A27DB-BD31-4B8C-83A1-F6EECF244321}">
                <p14:modId xmlns:p14="http://schemas.microsoft.com/office/powerpoint/2010/main" val="4144440253"/>
              </p:ext>
            </p:extLst>
          </p:nvPr>
        </p:nvGraphicFramePr>
        <p:xfrm>
          <a:off x="1595718" y="2214282"/>
          <a:ext cx="9251576" cy="3223827"/>
        </p:xfrm>
        <a:graphic>
          <a:graphicData uri="http://schemas.openxmlformats.org/drawingml/2006/table">
            <a:tbl>
              <a:tblPr firstRow="1" firstCol="1" bandRow="1">
                <a:tableStyleId>{5C22544A-7EE6-4342-B048-85BDC9FD1C3A}</a:tableStyleId>
              </a:tblPr>
              <a:tblGrid>
                <a:gridCol w="3836894">
                  <a:extLst>
                    <a:ext uri="{9D8B030D-6E8A-4147-A177-3AD203B41FA5}">
                      <a16:colId xmlns:a16="http://schemas.microsoft.com/office/drawing/2014/main" val="2379073811"/>
                    </a:ext>
                  </a:extLst>
                </a:gridCol>
                <a:gridCol w="5414682">
                  <a:extLst>
                    <a:ext uri="{9D8B030D-6E8A-4147-A177-3AD203B41FA5}">
                      <a16:colId xmlns:a16="http://schemas.microsoft.com/office/drawing/2014/main" val="610689806"/>
                    </a:ext>
                  </a:extLst>
                </a:gridCol>
              </a:tblGrid>
              <a:tr h="469651">
                <a:tc>
                  <a:txBody>
                    <a:bodyPr/>
                    <a:lstStyle/>
                    <a:p>
                      <a:pPr algn="ctr">
                        <a:lnSpc>
                          <a:spcPct val="150000"/>
                        </a:lnSpc>
                      </a:pPr>
                      <a:r>
                        <a:rPr lang="en-IN" sz="1800">
                          <a:effectLst/>
                          <a:latin typeface="Times New Roman" panose="02020603050405020304" pitchFamily="18" charset="0"/>
                          <a:cs typeface="Times New Roman" panose="02020603050405020304" pitchFamily="18" charset="0"/>
                        </a:rPr>
                        <a:t>Coding Technique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pPr>
                      <a:r>
                        <a:rPr lang="en-IN" sz="1800">
                          <a:effectLst/>
                          <a:latin typeface="Times New Roman" panose="02020603050405020304" pitchFamily="18" charset="0"/>
                          <a:cs typeface="Times New Roman" panose="02020603050405020304" pitchFamily="18" charset="0"/>
                        </a:rPr>
                        <a:t>Suitable Communication Systems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2196685"/>
                  </a:ext>
                </a:extLst>
              </a:tr>
              <a:tr h="662154">
                <a:tc>
                  <a:txBody>
                    <a:bodyPr/>
                    <a:lstStyle/>
                    <a:p>
                      <a:pPr>
                        <a:lnSpc>
                          <a:spcPct val="150000"/>
                        </a:lnSpc>
                      </a:pPr>
                      <a:r>
                        <a:rPr lang="en-IN" sz="1800">
                          <a:effectLst/>
                          <a:latin typeface="Times New Roman" panose="02020603050405020304" pitchFamily="18" charset="0"/>
                          <a:cs typeface="Times New Roman" panose="02020603050405020304" pitchFamily="18" charset="0"/>
                        </a:rPr>
                        <a:t>Convolutional Coding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pPr>
                      <a:r>
                        <a:rPr lang="en-IN" sz="1800">
                          <a:effectLst/>
                          <a:latin typeface="Times New Roman" panose="02020603050405020304" pitchFamily="18" charset="0"/>
                          <a:cs typeface="Times New Roman" panose="02020603050405020304" pitchFamily="18" charset="0"/>
                        </a:rPr>
                        <a:t>2G, 3G systems, basic wireless communication, satellite communication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59985533"/>
                  </a:ext>
                </a:extLst>
              </a:tr>
              <a:tr h="433124">
                <a:tc>
                  <a:txBody>
                    <a:bodyPr/>
                    <a:lstStyle/>
                    <a:p>
                      <a:pPr>
                        <a:lnSpc>
                          <a:spcPct val="150000"/>
                        </a:lnSpc>
                      </a:pPr>
                      <a:r>
                        <a:rPr lang="en-IN" sz="1800">
                          <a:effectLst/>
                          <a:latin typeface="Times New Roman" panose="02020603050405020304" pitchFamily="18" charset="0"/>
                          <a:cs typeface="Times New Roman" panose="02020603050405020304" pitchFamily="18" charset="0"/>
                        </a:rPr>
                        <a:t>LDPC Coding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pPr>
                      <a:r>
                        <a:rPr lang="en-IN" sz="1800">
                          <a:effectLst/>
                          <a:latin typeface="Times New Roman" panose="02020603050405020304" pitchFamily="18" charset="0"/>
                          <a:cs typeface="Times New Roman" panose="02020603050405020304" pitchFamily="18" charset="0"/>
                        </a:rPr>
                        <a:t>4G LITE and  Wi-Fi systems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53554728"/>
                  </a:ext>
                </a:extLst>
              </a:tr>
              <a:tr h="453364">
                <a:tc>
                  <a:txBody>
                    <a:bodyPr/>
                    <a:lstStyle/>
                    <a:p>
                      <a:pPr>
                        <a:lnSpc>
                          <a:spcPct val="150000"/>
                        </a:lnSpc>
                      </a:pPr>
                      <a:r>
                        <a:rPr lang="en-IN" sz="1800">
                          <a:effectLst/>
                          <a:latin typeface="Times New Roman" panose="02020603050405020304" pitchFamily="18" charset="0"/>
                          <a:cs typeface="Times New Roman" panose="02020603050405020304" pitchFamily="18" charset="0"/>
                        </a:rPr>
                        <a:t>Turbo Coding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pPr>
                      <a:r>
                        <a:rPr lang="en-IN" sz="1800">
                          <a:effectLst/>
                          <a:latin typeface="Times New Roman" panose="02020603050405020304" pitchFamily="18" charset="0"/>
                          <a:cs typeface="Times New Roman" panose="02020603050405020304" pitchFamily="18" charset="0"/>
                        </a:rPr>
                        <a:t>5G Systems, deep space communication, mobile networks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66512316"/>
                  </a:ext>
                </a:extLst>
              </a:tr>
              <a:tr h="662154">
                <a:tc>
                  <a:txBody>
                    <a:bodyPr/>
                    <a:lstStyle/>
                    <a:p>
                      <a:pPr>
                        <a:lnSpc>
                          <a:spcPct val="150000"/>
                        </a:lnSpc>
                      </a:pPr>
                      <a:r>
                        <a:rPr lang="en-IN" sz="1800">
                          <a:effectLst/>
                          <a:latin typeface="Times New Roman" panose="02020603050405020304" pitchFamily="18" charset="0"/>
                          <a:cs typeface="Times New Roman" panose="02020603050405020304" pitchFamily="18" charset="0"/>
                        </a:rPr>
                        <a:t>Polar Coding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pPr>
                      <a:r>
                        <a:rPr lang="en-IN" sz="1800">
                          <a:effectLst/>
                          <a:latin typeface="Times New Roman" panose="02020603050405020304" pitchFamily="18" charset="0"/>
                          <a:cs typeface="Times New Roman" panose="02020603050405020304" pitchFamily="18" charset="0"/>
                        </a:rPr>
                        <a:t>Advanced 5G control channels, advanced wireless systems, future 6G networks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4257162"/>
                  </a:ext>
                </a:extLst>
              </a:tr>
            </a:tbl>
          </a:graphicData>
        </a:graphic>
      </p:graphicFrame>
    </p:spTree>
    <p:extLst>
      <p:ext uri="{BB962C8B-B14F-4D97-AF65-F5344CB8AC3E}">
        <p14:creationId xmlns:p14="http://schemas.microsoft.com/office/powerpoint/2010/main" val="300057742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AD2A-6A86-9570-B2B3-4BABD6EC7F70}"/>
              </a:ext>
            </a:extLst>
          </p:cNvPr>
          <p:cNvSpPr>
            <a:spLocks noGrp="1"/>
          </p:cNvSpPr>
          <p:nvPr>
            <p:ph type="title"/>
          </p:nvPr>
        </p:nvSpPr>
        <p:spPr>
          <a:xfrm>
            <a:off x="1240680" y="943583"/>
            <a:ext cx="8761413" cy="1047142"/>
          </a:xfrm>
        </p:spPr>
        <p:txBody>
          <a:bodyPr/>
          <a:lstStyle/>
          <a:p>
            <a:r>
              <a:rPr lang="en-GB" dirty="0"/>
              <a:t> </a:t>
            </a:r>
            <a:endParaRPr lang="en-IN" dirty="0"/>
          </a:p>
        </p:txBody>
      </p:sp>
      <p:sp>
        <p:nvSpPr>
          <p:cNvPr id="4" name="Rectangle 3">
            <a:extLst>
              <a:ext uri="{FF2B5EF4-FFF2-40B4-BE49-F238E27FC236}">
                <a16:creationId xmlns:a16="http://schemas.microsoft.com/office/drawing/2014/main" id="{A12BB85E-C3E1-49A6-9384-23AD42330260}"/>
              </a:ext>
            </a:extLst>
          </p:cNvPr>
          <p:cNvSpPr/>
          <p:nvPr/>
        </p:nvSpPr>
        <p:spPr>
          <a:xfrm>
            <a:off x="4828674" y="2173705"/>
            <a:ext cx="2045368"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6196F9EC-B8D8-C00B-800C-FEBC8F841238}"/>
              </a:ext>
            </a:extLst>
          </p:cNvPr>
          <p:cNvSpPr/>
          <p:nvPr/>
        </p:nvSpPr>
        <p:spPr>
          <a:xfrm>
            <a:off x="209550" y="2288005"/>
            <a:ext cx="6106602" cy="41369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000" dirty="0">
              <a:solidFill>
                <a:schemeClr val="tx2"/>
              </a:solidFill>
            </a:endParaRPr>
          </a:p>
        </p:txBody>
      </p:sp>
      <p:sp>
        <p:nvSpPr>
          <p:cNvPr id="12" name="TextBox 11">
            <a:extLst>
              <a:ext uri="{FF2B5EF4-FFF2-40B4-BE49-F238E27FC236}">
                <a16:creationId xmlns:a16="http://schemas.microsoft.com/office/drawing/2014/main" id="{FA43ED23-B4CA-F2D9-F372-BAD9C72E85B6}"/>
              </a:ext>
            </a:extLst>
          </p:cNvPr>
          <p:cNvSpPr txBox="1"/>
          <p:nvPr/>
        </p:nvSpPr>
        <p:spPr>
          <a:xfrm>
            <a:off x="1135810" y="646303"/>
            <a:ext cx="9815510" cy="646331"/>
          </a:xfrm>
          <a:prstGeom prst="rect">
            <a:avLst/>
          </a:prstGeom>
          <a:noFill/>
        </p:spPr>
        <p:txBody>
          <a:bodyPr wrap="square">
            <a:spAutoFit/>
          </a:bodyPr>
          <a:lstStyle/>
          <a:p>
            <a:pPr algn="ctr"/>
            <a:r>
              <a:rPr lang="en-GB" sz="3600">
                <a:latin typeface="Times New Roman" panose="02020603050405020304" pitchFamily="18" charset="0"/>
                <a:cs typeface="Times New Roman" panose="02020603050405020304" pitchFamily="18" charset="0"/>
              </a:rPr>
              <a:t>Advantages and Applications of Proposed Method</a:t>
            </a:r>
            <a:endParaRPr lang="en-IN" sz="36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E7F8445-220D-FE47-7DED-D39081359479}"/>
              </a:ext>
            </a:extLst>
          </p:cNvPr>
          <p:cNvSpPr txBox="1"/>
          <p:nvPr/>
        </p:nvSpPr>
        <p:spPr>
          <a:xfrm>
            <a:off x="672352" y="1444477"/>
            <a:ext cx="1792942" cy="461665"/>
          </a:xfrm>
          <a:prstGeom prst="rect">
            <a:avLst/>
          </a:prstGeom>
          <a:noFill/>
        </p:spPr>
        <p:txBody>
          <a:bodyPr wrap="square">
            <a:spAutoFit/>
          </a:bodyPr>
          <a:lstStyle/>
          <a:p>
            <a:pPr algn="just"/>
            <a:r>
              <a:rPr lang="en-GB" sz="2400" b="1">
                <a:latin typeface="Times New Roman" panose="02020603050405020304" pitchFamily="18" charset="0"/>
                <a:cs typeface="Times New Roman" panose="02020603050405020304" pitchFamily="18" charset="0"/>
              </a:rPr>
              <a:t>Advantages</a:t>
            </a:r>
          </a:p>
        </p:txBody>
      </p:sp>
      <p:sp>
        <p:nvSpPr>
          <p:cNvPr id="15" name="TextBox 14">
            <a:extLst>
              <a:ext uri="{FF2B5EF4-FFF2-40B4-BE49-F238E27FC236}">
                <a16:creationId xmlns:a16="http://schemas.microsoft.com/office/drawing/2014/main" id="{9811F611-FE2D-226B-0CD4-5F76B01BCAFE}"/>
              </a:ext>
            </a:extLst>
          </p:cNvPr>
          <p:cNvSpPr txBox="1"/>
          <p:nvPr/>
        </p:nvSpPr>
        <p:spPr>
          <a:xfrm>
            <a:off x="672352" y="3862244"/>
            <a:ext cx="2052919" cy="461665"/>
          </a:xfrm>
          <a:prstGeom prst="rect">
            <a:avLst/>
          </a:prstGeom>
          <a:noFill/>
        </p:spPr>
        <p:txBody>
          <a:bodyPr wrap="square">
            <a:spAutoFit/>
          </a:bodyPr>
          <a:lstStyle/>
          <a:p>
            <a:pPr algn="just"/>
            <a:r>
              <a:rPr lang="en-IN" sz="2400" b="1">
                <a:latin typeface="Times New Roman" panose="02020603050405020304" pitchFamily="18" charset="0"/>
                <a:cs typeface="Times New Roman" panose="02020603050405020304" pitchFamily="18" charset="0"/>
              </a:rPr>
              <a:t>Applications</a:t>
            </a:r>
          </a:p>
        </p:txBody>
      </p:sp>
      <p:sp>
        <p:nvSpPr>
          <p:cNvPr id="3" name="Rectangle 1">
            <a:extLst>
              <a:ext uri="{FF2B5EF4-FFF2-40B4-BE49-F238E27FC236}">
                <a16:creationId xmlns:a16="http://schemas.microsoft.com/office/drawing/2014/main" id="{5F7A6130-5F03-74A6-2445-B020A1910333}"/>
              </a:ext>
            </a:extLst>
          </p:cNvPr>
          <p:cNvSpPr>
            <a:spLocks noChangeArrowheads="1"/>
          </p:cNvSpPr>
          <p:nvPr/>
        </p:nvSpPr>
        <p:spPr bwMode="auto">
          <a:xfrm>
            <a:off x="932327" y="1612090"/>
            <a:ext cx="7476566"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Reduced Bit Error Rate (BER)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Improved reliability and error correction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 spectral efficiency using MIMO-OFDM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Better performance at low SNR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Low latency with Polar coding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Supports high data rate communication </a:t>
            </a:r>
          </a:p>
        </p:txBody>
      </p:sp>
      <p:sp>
        <p:nvSpPr>
          <p:cNvPr id="5" name="Rectangle 2">
            <a:extLst>
              <a:ext uri="{FF2B5EF4-FFF2-40B4-BE49-F238E27FC236}">
                <a16:creationId xmlns:a16="http://schemas.microsoft.com/office/drawing/2014/main" id="{FE268C58-42A0-22B1-BDE3-C9619E634955}"/>
              </a:ext>
            </a:extLst>
          </p:cNvPr>
          <p:cNvSpPr>
            <a:spLocks noChangeArrowheads="1"/>
          </p:cNvSpPr>
          <p:nvPr/>
        </p:nvSpPr>
        <p:spPr bwMode="auto">
          <a:xfrm>
            <a:off x="923360" y="4283451"/>
            <a:ext cx="87614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5G and 6G communication systems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Mobile and wireless networks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Satellite communication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IoT and Wireless Sensor Networks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High-speed data transmission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Military and secure communication </a:t>
            </a:r>
          </a:p>
        </p:txBody>
      </p:sp>
    </p:spTree>
    <p:extLst>
      <p:ext uri="{BB962C8B-B14F-4D97-AF65-F5344CB8AC3E}">
        <p14:creationId xmlns:p14="http://schemas.microsoft.com/office/powerpoint/2010/main" val="11384445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73282-B948-5CB2-AD5B-8A8BA6C0298E}"/>
              </a:ext>
            </a:extLst>
          </p:cNvPr>
          <p:cNvSpPr>
            <a:spLocks noGrp="1"/>
          </p:cNvSpPr>
          <p:nvPr>
            <p:ph type="title"/>
          </p:nvPr>
        </p:nvSpPr>
        <p:spPr>
          <a:xfrm>
            <a:off x="672353" y="677212"/>
            <a:ext cx="10515600" cy="1325563"/>
          </a:xfrm>
        </p:spPr>
        <p:txBody>
          <a:bodyPr/>
          <a:lstStyle/>
          <a:p>
            <a:pPr algn="ctr"/>
            <a:r>
              <a:rPr lang="en-GB"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705141D-6275-E5D8-031F-4D81411BCE67}"/>
              </a:ext>
            </a:extLst>
          </p:cNvPr>
          <p:cNvSpPr txBox="1"/>
          <p:nvPr/>
        </p:nvSpPr>
        <p:spPr>
          <a:xfrm>
            <a:off x="1057835" y="2002775"/>
            <a:ext cx="10434918" cy="3477875"/>
          </a:xfrm>
          <a:prstGeom prst="rect">
            <a:avLst/>
          </a:prstGeom>
          <a:noFill/>
        </p:spPr>
        <p:txBody>
          <a:bodyPr wrap="square">
            <a:spAutoFit/>
          </a:bodyPr>
          <a:lstStyle/>
          <a:p>
            <a:pPr algn="just"/>
            <a:r>
              <a:rPr lang="en-GB" sz="2000">
                <a:latin typeface="Times New Roman" panose="02020603050405020304" pitchFamily="18" charset="0"/>
                <a:cs typeface="Times New Roman" panose="02020603050405020304" pitchFamily="18" charset="0"/>
              </a:rPr>
              <a:t>           This project analyzes different channel coding techniques such as Convolutional, Turbo, LDPC, and Polar codes using a MIMO-OFDM system. The results show that the </a:t>
            </a:r>
            <a:r>
              <a:rPr lang="en-GB" sz="2000" b="1">
                <a:latin typeface="Times New Roman" panose="02020603050405020304" pitchFamily="18" charset="0"/>
                <a:cs typeface="Times New Roman" panose="02020603050405020304" pitchFamily="18" charset="0"/>
              </a:rPr>
              <a:t>proposed system</a:t>
            </a:r>
            <a:r>
              <a:rPr lang="en-GB" sz="2000">
                <a:latin typeface="Times New Roman" panose="02020603050405020304" pitchFamily="18" charset="0"/>
                <a:cs typeface="Times New Roman" panose="02020603050405020304" pitchFamily="18" charset="0"/>
              </a:rPr>
              <a:t>, which includes advanced coding techniques like </a:t>
            </a:r>
            <a:r>
              <a:rPr lang="en-GB" sz="2000" b="1">
                <a:latin typeface="Times New Roman" panose="02020603050405020304" pitchFamily="18" charset="0"/>
                <a:cs typeface="Times New Roman" panose="02020603050405020304" pitchFamily="18" charset="0"/>
              </a:rPr>
              <a:t>Turbo and Polar codes</a:t>
            </a:r>
            <a:r>
              <a:rPr lang="en-GB" sz="2000">
                <a:latin typeface="Times New Roman" panose="02020603050405020304" pitchFamily="18" charset="0"/>
                <a:cs typeface="Times New Roman" panose="02020603050405020304" pitchFamily="18" charset="0"/>
              </a:rPr>
              <a:t>, achieves improved performance in terms of reduced Bit Error Rate (BER), better reliability, and higher spectral efficiency compared to the existing system. Among all techniques, </a:t>
            </a:r>
            <a:r>
              <a:rPr lang="en-GB" sz="2000" b="1">
                <a:latin typeface="Times New Roman" panose="02020603050405020304" pitchFamily="18" charset="0"/>
                <a:cs typeface="Times New Roman" panose="02020603050405020304" pitchFamily="18" charset="0"/>
              </a:rPr>
              <a:t>Polar coding</a:t>
            </a:r>
            <a:r>
              <a:rPr lang="en-GB" sz="2000">
                <a:latin typeface="Times New Roman" panose="02020603050405020304" pitchFamily="18" charset="0"/>
                <a:cs typeface="Times New Roman" panose="02020603050405020304" pitchFamily="18" charset="0"/>
              </a:rPr>
              <a:t> provides the best performance due to its low latency and efficiency, making it suitable for advanced </a:t>
            </a:r>
            <a:r>
              <a:rPr lang="en-GB" sz="2000" b="1">
                <a:latin typeface="Times New Roman" panose="02020603050405020304" pitchFamily="18" charset="0"/>
                <a:cs typeface="Times New Roman" panose="02020603050405020304" pitchFamily="18" charset="0"/>
              </a:rPr>
              <a:t>5G and 6G communication systems</a:t>
            </a:r>
            <a:r>
              <a:rPr lang="en-GB" sz="2000">
                <a:latin typeface="Times New Roman" panose="02020603050405020304" pitchFamily="18" charset="0"/>
                <a:cs typeface="Times New Roman" panose="02020603050405020304" pitchFamily="18" charset="0"/>
              </a:rPr>
              <a:t>. Overall, the proposed system enhances communication performance and offers a reliable solution for </a:t>
            </a:r>
            <a:r>
              <a:rPr lang="en-GB" sz="2000" b="1">
                <a:latin typeface="Times New Roman" panose="02020603050405020304" pitchFamily="18" charset="0"/>
                <a:cs typeface="Times New Roman" panose="02020603050405020304" pitchFamily="18" charset="0"/>
              </a:rPr>
              <a:t>next-generation wireless networks</a:t>
            </a:r>
            <a:r>
              <a:rPr lang="en-GB" sz="2000">
                <a:latin typeface="Times New Roman" panose="02020603050405020304" pitchFamily="18" charset="0"/>
                <a:cs typeface="Times New Roman" panose="02020603050405020304" pitchFamily="18" charset="0"/>
              </a:rPr>
              <a:t>.</a:t>
            </a:r>
          </a:p>
          <a:p>
            <a:pPr algn="just"/>
            <a:r>
              <a:rPr lang="en-GB" sz="2000">
                <a:latin typeface="Times New Roman" panose="02020603050405020304" pitchFamily="18" charset="0"/>
                <a:cs typeface="Times New Roman" panose="02020603050405020304" pitchFamily="18" charset="0"/>
              </a:rPr>
              <a:t>The study also demonstrates the importance of </a:t>
            </a:r>
            <a:r>
              <a:rPr lang="en-GB" sz="2000" b="1">
                <a:latin typeface="Times New Roman" panose="02020603050405020304" pitchFamily="18" charset="0"/>
                <a:cs typeface="Times New Roman" panose="02020603050405020304" pitchFamily="18" charset="0"/>
              </a:rPr>
              <a:t>advanced error correction techniques</a:t>
            </a:r>
            <a:r>
              <a:rPr lang="en-GB" sz="2000">
                <a:latin typeface="Times New Roman" panose="02020603050405020304" pitchFamily="18" charset="0"/>
                <a:cs typeface="Times New Roman" panose="02020603050405020304" pitchFamily="18" charset="0"/>
              </a:rPr>
              <a:t> in improving system efficiency. It highlights the need for </a:t>
            </a:r>
            <a:r>
              <a:rPr lang="en-GB" sz="2000" b="1">
                <a:latin typeface="Times New Roman" panose="02020603050405020304" pitchFamily="18" charset="0"/>
                <a:cs typeface="Times New Roman" panose="02020603050405020304" pitchFamily="18" charset="0"/>
              </a:rPr>
              <a:t>low latency and high data rate communication</a:t>
            </a:r>
            <a:r>
              <a:rPr lang="en-GB" sz="2000">
                <a:latin typeface="Times New Roman" panose="02020603050405020304" pitchFamily="18" charset="0"/>
                <a:cs typeface="Times New Roman" panose="02020603050405020304" pitchFamily="18" charset="0"/>
              </a:rPr>
              <a:t> in modern wireless systems. </a:t>
            </a:r>
          </a:p>
        </p:txBody>
      </p:sp>
    </p:spTree>
    <p:extLst>
      <p:ext uri="{BB962C8B-B14F-4D97-AF65-F5344CB8AC3E}">
        <p14:creationId xmlns:p14="http://schemas.microsoft.com/office/powerpoint/2010/main" val="408048331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351148-0EE6-A0A9-4A21-B14D554D793F}"/>
              </a:ext>
            </a:extLst>
          </p:cNvPr>
          <p:cNvSpPr txBox="1"/>
          <p:nvPr/>
        </p:nvSpPr>
        <p:spPr>
          <a:xfrm>
            <a:off x="582705" y="832828"/>
            <a:ext cx="6096000" cy="707886"/>
          </a:xfrm>
          <a:prstGeom prst="rect">
            <a:avLst/>
          </a:prstGeom>
          <a:noFill/>
        </p:spPr>
        <p:txBody>
          <a:bodyPr wrap="square">
            <a:spAutoFit/>
          </a:bodyPr>
          <a:lstStyle/>
          <a:p>
            <a:r>
              <a:rPr lang="en-US" sz="4000">
                <a:latin typeface="Times New Roman" panose="02020603050405020304" pitchFamily="18" charset="0"/>
                <a:cs typeface="Times New Roman" panose="02020603050405020304" pitchFamily="18" charset="0"/>
              </a:rPr>
              <a:t>References</a:t>
            </a:r>
            <a:endParaRPr lang="en-IN" sz="4000"/>
          </a:p>
        </p:txBody>
      </p:sp>
      <p:sp>
        <p:nvSpPr>
          <p:cNvPr id="4" name="Rectangle 1">
            <a:extLst>
              <a:ext uri="{FF2B5EF4-FFF2-40B4-BE49-F238E27FC236}">
                <a16:creationId xmlns:a16="http://schemas.microsoft.com/office/drawing/2014/main" id="{0C3F5D48-F647-F4AD-4442-EEC1A67A2F59}"/>
              </a:ext>
            </a:extLst>
          </p:cNvPr>
          <p:cNvSpPr>
            <a:spLocks noChangeArrowheads="1"/>
          </p:cNvSpPr>
          <p:nvPr/>
        </p:nvSpPr>
        <p:spPr bwMode="auto">
          <a:xfrm>
            <a:off x="582705" y="1655703"/>
            <a:ext cx="10829365"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 S. Bates et al., “Termination sequence generation circuits for LDPC convolutional codes,” IEEE Trans., 2005.</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 S. Bates et al., “Decoders for LDPC convolutional codes,” NASA VLSI Symposium, 2005.</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 S. M. Motaghiannezam et al., “High-speed PAM4 transmission,” OFC Conference, 2016.</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 Additional MATLAB and communication system resources</a:t>
            </a:r>
          </a:p>
        </p:txBody>
      </p:sp>
    </p:spTree>
    <p:extLst>
      <p:ext uri="{BB962C8B-B14F-4D97-AF65-F5344CB8AC3E}">
        <p14:creationId xmlns:p14="http://schemas.microsoft.com/office/powerpoint/2010/main" val="21114601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4FFB4F-79B4-E601-1F60-0223DCFC487D}"/>
              </a:ext>
            </a:extLst>
          </p:cNvPr>
          <p:cNvSpPr/>
          <p:nvPr/>
        </p:nvSpPr>
        <p:spPr>
          <a:xfrm>
            <a:off x="2657475" y="2590800"/>
            <a:ext cx="6562725" cy="136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600" dirty="0">
                <a:solidFill>
                  <a:schemeClr val="tx1"/>
                </a:solidFill>
                <a:latin typeface="Times New Roman" panose="02020603050405020304" pitchFamily="18" charset="0"/>
                <a:cs typeface="Times New Roman" panose="02020603050405020304" pitchFamily="18" charset="0"/>
              </a:rPr>
              <a:t>THANK YOU</a:t>
            </a:r>
            <a:endParaRPr lang="en-IN" sz="6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55620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4936</TotalTime>
  <Words>2358</Words>
  <Application>Microsoft Office PowerPoint</Application>
  <PresentationFormat>Widescreen</PresentationFormat>
  <Paragraphs>227</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Alef</vt:lpstr>
      <vt:lpstr>Arial</vt:lpstr>
      <vt:lpstr>Calibri</vt:lpstr>
      <vt:lpstr>Calibri Light</vt:lpstr>
      <vt:lpstr>Times</vt:lpstr>
      <vt:lpstr>Times New Roman</vt:lpstr>
      <vt:lpstr>Wingdings</vt:lpstr>
      <vt:lpstr>Office Theme</vt:lpstr>
      <vt:lpstr>   </vt:lpstr>
      <vt:lpstr>LIST OF CONTENTS</vt:lpstr>
      <vt:lpstr>PowerPoint Presentation</vt:lpstr>
      <vt:lpstr> INTRODUCTION</vt:lpstr>
      <vt:lpstr>PowerPoint Presentation</vt:lpstr>
      <vt:lpstr>Existing Method:</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HYGIENE</dc:title>
  <dc:creator>Chandhu Dasari</dc:creator>
  <cp:lastModifiedBy>Chandana Dasari</cp:lastModifiedBy>
  <cp:revision>73</cp:revision>
  <cp:lastPrinted>2026-03-27T15:41:55Z</cp:lastPrinted>
  <dcterms:created xsi:type="dcterms:W3CDTF">2024-10-28T06:54:58Z</dcterms:created>
  <dcterms:modified xsi:type="dcterms:W3CDTF">2026-04-08T06:55:36Z</dcterms:modified>
</cp:coreProperties>
</file>